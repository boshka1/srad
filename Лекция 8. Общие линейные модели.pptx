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6"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7" r:id="rId21"/>
    <p:sldId id="278" r:id="rId2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D54C548D-6CA2-4201-9686-10DCA69215B3}" type="datetimeFigureOut">
              <a:rPr lang="ru-RU" smtClean="0"/>
              <a:pPr/>
              <a:t>26.03.2023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B8FB5D4-E8E8-40F0-8390-ECA2DC519963}"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D54C548D-6CA2-4201-9686-10DCA69215B3}" type="datetimeFigureOut">
              <a:rPr lang="ru-RU" smtClean="0"/>
              <a:pPr/>
              <a:t>26.03.2023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B8FB5D4-E8E8-40F0-8390-ECA2DC519963}"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D54C548D-6CA2-4201-9686-10DCA69215B3}" type="datetimeFigureOut">
              <a:rPr lang="ru-RU" smtClean="0"/>
              <a:pPr/>
              <a:t>26.03.2023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B8FB5D4-E8E8-40F0-8390-ECA2DC519963}"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D54C548D-6CA2-4201-9686-10DCA69215B3}" type="datetimeFigureOut">
              <a:rPr lang="ru-RU" smtClean="0"/>
              <a:pPr/>
              <a:t>26.03.2023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B8FB5D4-E8E8-40F0-8390-ECA2DC519963}"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D54C548D-6CA2-4201-9686-10DCA69215B3}" type="datetimeFigureOut">
              <a:rPr lang="ru-RU" smtClean="0"/>
              <a:pPr/>
              <a:t>26.03.2023</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EB8FB5D4-E8E8-40F0-8390-ECA2DC519963}"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D54C548D-6CA2-4201-9686-10DCA69215B3}" type="datetimeFigureOut">
              <a:rPr lang="ru-RU" smtClean="0"/>
              <a:pPr/>
              <a:t>26.03.2023</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EB8FB5D4-E8E8-40F0-8390-ECA2DC519963}"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D54C548D-6CA2-4201-9686-10DCA69215B3}" type="datetimeFigureOut">
              <a:rPr lang="ru-RU" smtClean="0"/>
              <a:pPr/>
              <a:t>26.03.2023</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EB8FB5D4-E8E8-40F0-8390-ECA2DC519963}"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D54C548D-6CA2-4201-9686-10DCA69215B3}" type="datetimeFigureOut">
              <a:rPr lang="ru-RU" smtClean="0"/>
              <a:pPr/>
              <a:t>26.03.2023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B8FB5D4-E8E8-40F0-8390-ECA2DC519963}"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D54C548D-6CA2-4201-9686-10DCA69215B3}" type="datetimeFigureOut">
              <a:rPr lang="ru-RU" smtClean="0"/>
              <a:pPr/>
              <a:t>26.03.2023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EB8FB5D4-E8E8-40F0-8390-ECA2DC519963}"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D54C548D-6CA2-4201-9686-10DCA69215B3}" type="datetimeFigureOut">
              <a:rPr lang="ru-RU" smtClean="0"/>
              <a:pPr/>
              <a:t>26.03.2023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B8FB5D4-E8E8-40F0-8390-ECA2DC519963}"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D54C548D-6CA2-4201-9686-10DCA69215B3}" type="datetimeFigureOut">
              <a:rPr lang="ru-RU" smtClean="0"/>
              <a:pPr/>
              <a:t>26.03.2023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EB8FB5D4-E8E8-40F0-8390-ECA2DC519963}"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4C548D-6CA2-4201-9686-10DCA69215B3}" type="datetimeFigureOut">
              <a:rPr lang="ru-RU" smtClean="0"/>
              <a:pPr/>
              <a:t>26.03.2023</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8FB5D4-E8E8-40F0-8390-ECA2DC519963}"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043608" y="116632"/>
            <a:ext cx="7772400" cy="504056"/>
          </a:xfrm>
        </p:spPr>
        <p:txBody>
          <a:bodyPr>
            <a:normAutofit fontScale="90000"/>
          </a:bodyPr>
          <a:lstStyle/>
          <a:p>
            <a:r>
              <a:rPr lang="ru-RU" sz="2800" b="1" dirty="0"/>
              <a:t>Общие линейные модели</a:t>
            </a:r>
            <a:endParaRPr lang="ru-RU" sz="2800" dirty="0"/>
          </a:p>
        </p:txBody>
      </p:sp>
      <p:sp>
        <p:nvSpPr>
          <p:cNvPr id="3" name="Подзаголовок 2"/>
          <p:cNvSpPr>
            <a:spLocks noGrp="1"/>
          </p:cNvSpPr>
          <p:nvPr>
            <p:ph type="subTitle" idx="1"/>
          </p:nvPr>
        </p:nvSpPr>
        <p:spPr>
          <a:xfrm>
            <a:off x="179512" y="836712"/>
            <a:ext cx="8784976" cy="5760640"/>
          </a:xfrm>
        </p:spPr>
        <p:txBody>
          <a:bodyPr>
            <a:normAutofit fontScale="55000" lnSpcReduction="20000"/>
          </a:bodyPr>
          <a:lstStyle/>
          <a:p>
            <a:pPr algn="just"/>
            <a:r>
              <a:rPr lang="ru-RU" sz="3300" dirty="0" smtClean="0">
                <a:solidFill>
                  <a:schemeClr val="tx1"/>
                </a:solidFill>
                <a:latin typeface="Times New Roman" pitchFamily="18" charset="0"/>
                <a:cs typeface="Times New Roman" pitchFamily="18" charset="0"/>
              </a:rPr>
              <a:t>   В </a:t>
            </a:r>
            <a:r>
              <a:rPr lang="ru-RU" sz="3300" dirty="0">
                <a:solidFill>
                  <a:schemeClr val="tx1"/>
                </a:solidFill>
                <a:latin typeface="Times New Roman" pitchFamily="18" charset="0"/>
                <a:cs typeface="Times New Roman" pitchFamily="18" charset="0"/>
              </a:rPr>
              <a:t>классическом регрессионном анализе предполагается, что отклик и предикторы – это непрерывные случайные величины, имеющие нормальное распределение. Однако в некоторых задачах в качестве предикторов целесообразно рассматривать качественные переменные, измеренные в номинальной или порядковой шкале. Если в качестве предикторов используются непрерывные и категориальные переменные, то для построения регрессионной модели следует использовать метод </a:t>
            </a:r>
            <a:r>
              <a:rPr lang="ru-RU" sz="3300" i="1" dirty="0">
                <a:solidFill>
                  <a:schemeClr val="tx1"/>
                </a:solidFill>
                <a:latin typeface="Times New Roman" pitchFamily="18" charset="0"/>
                <a:cs typeface="Times New Roman" pitchFamily="18" charset="0"/>
              </a:rPr>
              <a:t>Общие линейные модели</a:t>
            </a:r>
            <a:r>
              <a:rPr lang="ru-RU" sz="3300" dirty="0">
                <a:solidFill>
                  <a:schemeClr val="tx1"/>
                </a:solidFill>
                <a:latin typeface="Times New Roman" pitchFamily="18" charset="0"/>
                <a:cs typeface="Times New Roman" pitchFamily="18" charset="0"/>
              </a:rPr>
              <a:t>, который реализован в пакете </a:t>
            </a:r>
            <a:r>
              <a:rPr lang="en-US" sz="3300" i="1" dirty="0">
                <a:solidFill>
                  <a:schemeClr val="tx1"/>
                </a:solidFill>
                <a:latin typeface="Times New Roman" pitchFamily="18" charset="0"/>
                <a:cs typeface="Times New Roman" pitchFamily="18" charset="0"/>
              </a:rPr>
              <a:t>STATISTICA</a:t>
            </a:r>
            <a:r>
              <a:rPr lang="ru-RU" sz="3300" dirty="0">
                <a:solidFill>
                  <a:schemeClr val="tx1"/>
                </a:solidFill>
                <a:latin typeface="Times New Roman" pitchFamily="18" charset="0"/>
                <a:cs typeface="Times New Roman" pitchFamily="18" charset="0"/>
              </a:rPr>
              <a:t> с одноименным модулем (</a:t>
            </a:r>
            <a:r>
              <a:rPr lang="en-US" sz="3300" dirty="0">
                <a:solidFill>
                  <a:schemeClr val="tx1"/>
                </a:solidFill>
                <a:latin typeface="Times New Roman" pitchFamily="18" charset="0"/>
                <a:cs typeface="Times New Roman" pitchFamily="18" charset="0"/>
              </a:rPr>
              <a:t>GLM</a:t>
            </a:r>
            <a:r>
              <a:rPr lang="ru-RU" sz="3300" dirty="0" smtClean="0">
                <a:solidFill>
                  <a:schemeClr val="tx1"/>
                </a:solidFill>
                <a:latin typeface="Times New Roman" pitchFamily="18" charset="0"/>
                <a:cs typeface="Times New Roman" pitchFamily="18" charset="0"/>
              </a:rPr>
              <a:t>).</a:t>
            </a:r>
          </a:p>
          <a:p>
            <a:pPr algn="just">
              <a:spcBef>
                <a:spcPts val="0"/>
              </a:spcBef>
            </a:pPr>
            <a:r>
              <a:rPr lang="ru-RU" sz="3300" dirty="0" smtClean="0">
                <a:solidFill>
                  <a:schemeClr val="tx1"/>
                </a:solidFill>
                <a:latin typeface="Times New Roman" pitchFamily="18" charset="0"/>
                <a:cs typeface="Times New Roman" pitchFamily="18" charset="0"/>
              </a:rPr>
              <a:t>    Рассмотрим </a:t>
            </a:r>
            <a:r>
              <a:rPr lang="ru-RU" sz="3300" dirty="0">
                <a:solidFill>
                  <a:schemeClr val="tx1"/>
                </a:solidFill>
                <a:latin typeface="Times New Roman" pitchFamily="18" charset="0"/>
                <a:cs typeface="Times New Roman" pitchFamily="18" charset="0"/>
              </a:rPr>
              <a:t>пример. Предположим, группа людей, состоящая из врачей, педагогов и менеджеров в количестве 46 чел., пребывая в состоянии душевного дискомфорта,  наблюдаются у психолога. Для улучшения их психического состояния им было предложено, выбрав себе увлечение (хобби), посвятить большую часть своего времени этому увлечению. Был измерен уровень стресса по шкале Бека до занятия хобби и через определенное время, например через полгода (рис. 1).  </a:t>
            </a:r>
            <a:endParaRPr lang="ru-RU" sz="3300" dirty="0" smtClean="0">
              <a:solidFill>
                <a:schemeClr val="tx1"/>
              </a:solidFill>
              <a:latin typeface="Times New Roman" pitchFamily="18" charset="0"/>
              <a:cs typeface="Times New Roman" pitchFamily="18" charset="0"/>
            </a:endParaRPr>
          </a:p>
          <a:p>
            <a:pPr algn="just"/>
            <a:r>
              <a:rPr lang="ru-RU" sz="3300" dirty="0" smtClean="0">
                <a:solidFill>
                  <a:schemeClr val="tx1"/>
                </a:solidFill>
                <a:latin typeface="Times New Roman" pitchFamily="18" charset="0"/>
                <a:cs typeface="Times New Roman" pitchFamily="18" charset="0"/>
              </a:rPr>
              <a:t>   Известны </a:t>
            </a:r>
            <a:r>
              <a:rPr lang="ru-RU" sz="3300" dirty="0">
                <a:solidFill>
                  <a:schemeClr val="tx1"/>
                </a:solidFill>
                <a:latin typeface="Times New Roman" pitchFamily="18" charset="0"/>
                <a:cs typeface="Times New Roman" pitchFamily="18" charset="0"/>
              </a:rPr>
              <a:t>возраст, пол, профессии, длительность наблюдения у психолога, уровень стресса до (</a:t>
            </a:r>
            <a:r>
              <a:rPr lang="en-US" sz="3300" i="1" dirty="0">
                <a:solidFill>
                  <a:schemeClr val="tx1"/>
                </a:solidFill>
                <a:latin typeface="Times New Roman" pitchFamily="18" charset="0"/>
                <a:cs typeface="Times New Roman" pitchFamily="18" charset="0"/>
              </a:rPr>
              <a:t>SLBT</a:t>
            </a:r>
            <a:r>
              <a:rPr lang="ru-RU" sz="3300" dirty="0">
                <a:solidFill>
                  <a:schemeClr val="tx1"/>
                </a:solidFill>
                <a:latin typeface="Times New Roman" pitchFamily="18" charset="0"/>
                <a:cs typeface="Times New Roman" pitchFamily="18" charset="0"/>
              </a:rPr>
              <a:t>, </a:t>
            </a:r>
            <a:r>
              <a:rPr lang="en-US" sz="3300" i="1" dirty="0">
                <a:solidFill>
                  <a:schemeClr val="tx1"/>
                </a:solidFill>
                <a:latin typeface="Times New Roman" pitchFamily="18" charset="0"/>
                <a:cs typeface="Times New Roman" pitchFamily="18" charset="0"/>
              </a:rPr>
              <a:t>stress levels before treatment</a:t>
            </a:r>
            <a:r>
              <a:rPr lang="ru-RU" sz="3300" dirty="0">
                <a:solidFill>
                  <a:schemeClr val="tx1"/>
                </a:solidFill>
                <a:latin typeface="Times New Roman" pitchFamily="18" charset="0"/>
                <a:cs typeface="Times New Roman" pitchFamily="18" charset="0"/>
              </a:rPr>
              <a:t>) и после трудовой терапии (</a:t>
            </a:r>
            <a:r>
              <a:rPr lang="en-US" sz="3300" i="1" dirty="0">
                <a:solidFill>
                  <a:schemeClr val="tx1"/>
                </a:solidFill>
                <a:latin typeface="Times New Roman" pitchFamily="18" charset="0"/>
                <a:cs typeface="Times New Roman" pitchFamily="18" charset="0"/>
              </a:rPr>
              <a:t>SLAT</a:t>
            </a:r>
            <a:r>
              <a:rPr lang="ru-RU" sz="3300" dirty="0">
                <a:solidFill>
                  <a:schemeClr val="tx1"/>
                </a:solidFill>
                <a:latin typeface="Times New Roman" pitchFamily="18" charset="0"/>
                <a:cs typeface="Times New Roman" pitchFamily="18" charset="0"/>
              </a:rPr>
              <a:t>, </a:t>
            </a:r>
            <a:r>
              <a:rPr lang="en-US" sz="3300" i="1" dirty="0">
                <a:solidFill>
                  <a:schemeClr val="tx1"/>
                </a:solidFill>
                <a:latin typeface="Times New Roman" pitchFamily="18" charset="0"/>
                <a:cs typeface="Times New Roman" pitchFamily="18" charset="0"/>
              </a:rPr>
              <a:t>stress levels after treatment</a:t>
            </a:r>
            <a:r>
              <a:rPr lang="ru-RU" sz="3300" dirty="0">
                <a:solidFill>
                  <a:schemeClr val="tx1"/>
                </a:solidFill>
                <a:latin typeface="Times New Roman" pitchFamily="18" charset="0"/>
                <a:cs typeface="Times New Roman" pitchFamily="18" charset="0"/>
              </a:rPr>
              <a:t>), а также определена разность между уровнями стресса (</a:t>
            </a:r>
            <a:r>
              <a:rPr lang="en-US" sz="3300" i="1" dirty="0" err="1">
                <a:solidFill>
                  <a:schemeClr val="tx1"/>
                </a:solidFill>
                <a:latin typeface="Times New Roman" pitchFamily="18" charset="0"/>
                <a:cs typeface="Times New Roman" pitchFamily="18" charset="0"/>
              </a:rPr>
              <a:t>dst</a:t>
            </a:r>
            <a:r>
              <a:rPr lang="ru-RU" sz="3300" dirty="0">
                <a:solidFill>
                  <a:schemeClr val="tx1"/>
                </a:solidFill>
                <a:latin typeface="Times New Roman" pitchFamily="18" charset="0"/>
                <a:cs typeface="Times New Roman" pitchFamily="18" charset="0"/>
              </a:rPr>
              <a:t> = </a:t>
            </a:r>
            <a:r>
              <a:rPr lang="en-US" sz="3300" i="1" dirty="0">
                <a:solidFill>
                  <a:schemeClr val="tx1"/>
                </a:solidFill>
                <a:latin typeface="Times New Roman" pitchFamily="18" charset="0"/>
                <a:cs typeface="Times New Roman" pitchFamily="18" charset="0"/>
              </a:rPr>
              <a:t>SLBT</a:t>
            </a:r>
            <a:r>
              <a:rPr lang="en-US" sz="3300" dirty="0">
                <a:solidFill>
                  <a:schemeClr val="tx1"/>
                </a:solidFill>
                <a:latin typeface="Times New Roman" pitchFamily="18" charset="0"/>
                <a:cs typeface="Times New Roman" pitchFamily="18" charset="0"/>
              </a:rPr>
              <a:t> </a:t>
            </a:r>
            <a:r>
              <a:rPr lang="ru-RU" sz="3300" dirty="0">
                <a:solidFill>
                  <a:schemeClr val="tx1"/>
                </a:solidFill>
                <a:latin typeface="Times New Roman" pitchFamily="18" charset="0"/>
                <a:cs typeface="Times New Roman" pitchFamily="18" charset="0"/>
              </a:rPr>
              <a:t>–</a:t>
            </a:r>
            <a:r>
              <a:rPr lang="ru-RU" sz="3300" i="1" dirty="0">
                <a:solidFill>
                  <a:schemeClr val="tx1"/>
                </a:solidFill>
                <a:latin typeface="Times New Roman" pitchFamily="18" charset="0"/>
                <a:cs typeface="Times New Roman" pitchFamily="18" charset="0"/>
              </a:rPr>
              <a:t> </a:t>
            </a:r>
            <a:r>
              <a:rPr lang="en-US" sz="3300" i="1" dirty="0">
                <a:solidFill>
                  <a:schemeClr val="tx1"/>
                </a:solidFill>
                <a:latin typeface="Times New Roman" pitchFamily="18" charset="0"/>
                <a:cs typeface="Times New Roman" pitchFamily="18" charset="0"/>
              </a:rPr>
              <a:t>SLAT</a:t>
            </a:r>
            <a:r>
              <a:rPr lang="ru-RU" sz="3300" dirty="0">
                <a:solidFill>
                  <a:schemeClr val="tx1"/>
                </a:solidFill>
                <a:latin typeface="Times New Roman" pitchFamily="18" charset="0"/>
                <a:cs typeface="Times New Roman" pitchFamily="18" charset="0"/>
              </a:rPr>
              <a:t>). </a:t>
            </a:r>
          </a:p>
          <a:p>
            <a:pPr algn="just"/>
            <a:r>
              <a:rPr lang="ru-RU" sz="3300" dirty="0" smtClean="0">
                <a:solidFill>
                  <a:schemeClr val="tx1"/>
                </a:solidFill>
                <a:latin typeface="Times New Roman" pitchFamily="18" charset="0"/>
                <a:cs typeface="Times New Roman" pitchFamily="18" charset="0"/>
              </a:rPr>
              <a:t>   Наша </a:t>
            </a:r>
            <a:r>
              <a:rPr lang="ru-RU" sz="3300" dirty="0">
                <a:solidFill>
                  <a:schemeClr val="tx1"/>
                </a:solidFill>
                <a:latin typeface="Times New Roman" pitchFamily="18" charset="0"/>
                <a:cs typeface="Times New Roman" pitchFamily="18" charset="0"/>
              </a:rPr>
              <a:t>задача, построить общую линейную модель зависимости отклика </a:t>
            </a:r>
            <a:r>
              <a:rPr lang="en-US" sz="3300" i="1" dirty="0">
                <a:solidFill>
                  <a:schemeClr val="tx1"/>
                </a:solidFill>
                <a:latin typeface="Times New Roman" pitchFamily="18" charset="0"/>
                <a:cs typeface="Times New Roman" pitchFamily="18" charset="0"/>
              </a:rPr>
              <a:t>SLAT</a:t>
            </a:r>
            <a:r>
              <a:rPr lang="ru-RU" sz="3300" dirty="0">
                <a:solidFill>
                  <a:schemeClr val="tx1"/>
                </a:solidFill>
                <a:latin typeface="Times New Roman" pitchFamily="18" charset="0"/>
                <a:cs typeface="Times New Roman" pitchFamily="18" charset="0"/>
              </a:rPr>
              <a:t> – показателя выраженности стресса в баллах после терапии увлечением, от качественных предикторов </a:t>
            </a:r>
            <a:r>
              <a:rPr lang="ru-RU" sz="3300" i="1" dirty="0">
                <a:solidFill>
                  <a:schemeClr val="tx1"/>
                </a:solidFill>
                <a:latin typeface="Times New Roman" pitchFamily="18" charset="0"/>
                <a:cs typeface="Times New Roman" pitchFamily="18" charset="0"/>
              </a:rPr>
              <a:t>Пол</a:t>
            </a:r>
            <a:r>
              <a:rPr lang="ru-RU" sz="3300" dirty="0">
                <a:solidFill>
                  <a:schemeClr val="tx1"/>
                </a:solidFill>
                <a:latin typeface="Times New Roman" pitchFamily="18" charset="0"/>
                <a:cs typeface="Times New Roman" pitchFamily="18" charset="0"/>
              </a:rPr>
              <a:t>, </a:t>
            </a:r>
            <a:r>
              <a:rPr lang="ru-RU" sz="3300" i="1" dirty="0">
                <a:solidFill>
                  <a:schemeClr val="tx1"/>
                </a:solidFill>
                <a:latin typeface="Times New Roman" pitchFamily="18" charset="0"/>
                <a:cs typeface="Times New Roman" pitchFamily="18" charset="0"/>
              </a:rPr>
              <a:t>Профессия</a:t>
            </a:r>
            <a:r>
              <a:rPr lang="ru-RU" sz="3300" dirty="0">
                <a:solidFill>
                  <a:schemeClr val="tx1"/>
                </a:solidFill>
                <a:latin typeface="Times New Roman" pitchFamily="18" charset="0"/>
                <a:cs typeface="Times New Roman" pitchFamily="18" charset="0"/>
              </a:rPr>
              <a:t> и количественных – </a:t>
            </a:r>
            <a:r>
              <a:rPr lang="ru-RU" sz="3300" i="1" dirty="0">
                <a:solidFill>
                  <a:schemeClr val="tx1"/>
                </a:solidFill>
                <a:latin typeface="Times New Roman" pitchFamily="18" charset="0"/>
                <a:cs typeface="Times New Roman" pitchFamily="18" charset="0"/>
              </a:rPr>
              <a:t>Возраст</a:t>
            </a:r>
            <a:r>
              <a:rPr lang="ru-RU" sz="3300" dirty="0">
                <a:solidFill>
                  <a:schemeClr val="tx1"/>
                </a:solidFill>
                <a:latin typeface="Times New Roman" pitchFamily="18" charset="0"/>
                <a:cs typeface="Times New Roman" pitchFamily="18" charset="0"/>
              </a:rPr>
              <a:t>, </a:t>
            </a:r>
            <a:r>
              <a:rPr lang="ru-RU" sz="3300" i="1" dirty="0">
                <a:solidFill>
                  <a:schemeClr val="tx1"/>
                </a:solidFill>
                <a:latin typeface="Times New Roman" pitchFamily="18" charset="0"/>
                <a:cs typeface="Times New Roman" pitchFamily="18" charset="0"/>
              </a:rPr>
              <a:t>Длительность наблюдения, </a:t>
            </a:r>
            <a:r>
              <a:rPr lang="en-US" sz="3300" i="1" dirty="0">
                <a:solidFill>
                  <a:schemeClr val="tx1"/>
                </a:solidFill>
                <a:latin typeface="Times New Roman" pitchFamily="18" charset="0"/>
                <a:cs typeface="Times New Roman" pitchFamily="18" charset="0"/>
              </a:rPr>
              <a:t>SLBT</a:t>
            </a:r>
            <a:r>
              <a:rPr lang="ru-RU" sz="3300" dirty="0">
                <a:solidFill>
                  <a:schemeClr val="tx1"/>
                </a:solidFill>
                <a:latin typeface="Times New Roman" pitchFamily="18" charset="0"/>
                <a:cs typeface="Times New Roman" pitchFamily="18" charset="0"/>
              </a:rPr>
              <a:t> – показателя выраженности стресса в баллах до появления хобби. </a:t>
            </a:r>
          </a:p>
          <a:p>
            <a:pPr algn="just"/>
            <a:endParaRPr lang="ru-RU" dirty="0">
              <a:solidFill>
                <a:schemeClr val="tx1"/>
              </a:solidFill>
            </a:endParaRPr>
          </a:p>
          <a:p>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1742670" y="332656"/>
            <a:ext cx="5938984" cy="6192688"/>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16632"/>
            <a:ext cx="8229600" cy="2160240"/>
          </a:xfrm>
        </p:spPr>
        <p:txBody>
          <a:bodyPr>
            <a:normAutofit fontScale="90000"/>
          </a:bodyPr>
          <a:lstStyle/>
          <a:p>
            <a:pPr algn="l"/>
            <a:r>
              <a:rPr lang="ru-RU" sz="2000" dirty="0" smtClean="0">
                <a:latin typeface="Times New Roman" pitchFamily="18" charset="0"/>
                <a:cs typeface="Times New Roman" pitchFamily="18" charset="0"/>
              </a:rPr>
              <a:t/>
            </a:r>
            <a:br>
              <a:rPr lang="ru-RU" sz="2000" dirty="0" smtClean="0">
                <a:latin typeface="Times New Roman" pitchFamily="18" charset="0"/>
                <a:cs typeface="Times New Roman" pitchFamily="18" charset="0"/>
              </a:rPr>
            </a:br>
            <a:r>
              <a:rPr lang="ru-RU" sz="2000" dirty="0">
                <a:latin typeface="Times New Roman" pitchFamily="18" charset="0"/>
                <a:cs typeface="Times New Roman" pitchFamily="18" charset="0"/>
              </a:rPr>
              <a:t/>
            </a:r>
            <a:br>
              <a:rPr lang="ru-RU" sz="2000" dirty="0">
                <a:latin typeface="Times New Roman" pitchFamily="18" charset="0"/>
                <a:cs typeface="Times New Roman" pitchFamily="18" charset="0"/>
              </a:rPr>
            </a:br>
            <a:r>
              <a:rPr lang="ru-RU" sz="2000" dirty="0" smtClean="0">
                <a:latin typeface="Times New Roman" pitchFamily="18" charset="0"/>
                <a:cs typeface="Times New Roman" pitchFamily="18" charset="0"/>
              </a:rPr>
              <a:t/>
            </a:r>
            <a:br>
              <a:rPr lang="ru-RU" sz="2000" dirty="0" smtClean="0">
                <a:latin typeface="Times New Roman" pitchFamily="18" charset="0"/>
                <a:cs typeface="Times New Roman" pitchFamily="18" charset="0"/>
              </a:rPr>
            </a:br>
            <a:r>
              <a:rPr lang="ru-RU" sz="2000" dirty="0" smtClean="0">
                <a:latin typeface="Times New Roman" pitchFamily="18" charset="0"/>
                <a:cs typeface="Times New Roman" pitchFamily="18" charset="0"/>
              </a:rPr>
              <a:t>Для начала работы с модулем 	</a:t>
            </a:r>
            <a:r>
              <a:rPr lang="ru-RU" sz="2000" i="1" dirty="0" smtClean="0">
                <a:latin typeface="Times New Roman" pitchFamily="18" charset="0"/>
                <a:cs typeface="Times New Roman" pitchFamily="18" charset="0"/>
              </a:rPr>
              <a:t>Общие линейные модели</a:t>
            </a:r>
            <a:r>
              <a:rPr lang="ru-RU" sz="2000" dirty="0" smtClean="0">
                <a:latin typeface="Times New Roman" pitchFamily="18" charset="0"/>
                <a:cs typeface="Times New Roman" pitchFamily="18" charset="0"/>
              </a:rPr>
              <a:t> следует в меню  </a:t>
            </a:r>
            <a:r>
              <a:rPr lang="ru-RU" sz="2000" i="1" dirty="0" smtClean="0">
                <a:latin typeface="Times New Roman" pitchFamily="18" charset="0"/>
                <a:cs typeface="Times New Roman" pitchFamily="18" charset="0"/>
              </a:rPr>
              <a:t>Анализ </a:t>
            </a:r>
            <a:r>
              <a:rPr lang="ru-RU" sz="2000" dirty="0" smtClean="0">
                <a:latin typeface="Times New Roman" pitchFamily="18" charset="0"/>
                <a:cs typeface="Times New Roman" pitchFamily="18" charset="0"/>
              </a:rPr>
              <a:t>высветить  </a:t>
            </a:r>
            <a:r>
              <a:rPr lang="ru-RU" sz="2000" i="1" dirty="0" smtClean="0">
                <a:latin typeface="Times New Roman" pitchFamily="18" charset="0"/>
                <a:cs typeface="Times New Roman" pitchFamily="18" charset="0"/>
              </a:rPr>
              <a:t>Углубленные методы анализа </a:t>
            </a:r>
            <a:r>
              <a:rPr lang="ru-RU" sz="2000" dirty="0" smtClean="0">
                <a:latin typeface="Times New Roman" pitchFamily="18" charset="0"/>
                <a:cs typeface="Times New Roman" pitchFamily="18" charset="0"/>
              </a:rPr>
              <a:t>(рис.2), в открывшемся меню щелкнуть по процедуре </a:t>
            </a:r>
            <a:r>
              <a:rPr lang="ru-RU" sz="2000" i="1" dirty="0" smtClean="0">
                <a:latin typeface="Times New Roman" pitchFamily="18" charset="0"/>
                <a:cs typeface="Times New Roman" pitchFamily="18" charset="0"/>
              </a:rPr>
              <a:t> Общие линейные модели</a:t>
            </a:r>
            <a:r>
              <a:rPr lang="ru-RU" sz="2000" dirty="0" smtClean="0">
                <a:latin typeface="Times New Roman" pitchFamily="18" charset="0"/>
                <a:cs typeface="Times New Roman" pitchFamily="18" charset="0"/>
              </a:rPr>
              <a:t>, </a:t>
            </a:r>
            <a:r>
              <a:rPr lang="ru-RU" sz="2000" i="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откроется стартовое окно модуля (рис.3). Если в появившемся окне щелкнуть пол кнопке ОК, то откроется одноименное окно (рис.4), в котором надо щелкнуть по кнопке </a:t>
            </a:r>
            <a:r>
              <a:rPr lang="ru-RU" sz="2000" i="1" dirty="0" smtClean="0">
                <a:latin typeface="Times New Roman" pitchFamily="18" charset="0"/>
                <a:cs typeface="Times New Roman" pitchFamily="18" charset="0"/>
              </a:rPr>
              <a:t>Переменные</a:t>
            </a:r>
            <a:r>
              <a:rPr lang="ru-RU" sz="2000" dirty="0" smtClean="0">
                <a:latin typeface="Times New Roman" pitchFamily="18" charset="0"/>
                <a:cs typeface="Times New Roman" pitchFamily="18" charset="0"/>
              </a:rPr>
              <a:t> и в появившемся окне (рис.5) выделить зависимую переменную, категориальные и непрерывные предикторы.</a:t>
            </a:r>
            <a:br>
              <a:rPr lang="ru-RU" sz="2000" dirty="0" smtClean="0">
                <a:latin typeface="Times New Roman" pitchFamily="18" charset="0"/>
                <a:cs typeface="Times New Roman" pitchFamily="18" charset="0"/>
              </a:rPr>
            </a:br>
            <a:r>
              <a:rPr lang="ru-RU" dirty="0" smtClean="0"/>
              <a:t/>
            </a:r>
            <a:br>
              <a:rPr lang="ru-RU" dirty="0" smtClean="0"/>
            </a:br>
            <a:endParaRPr lang="ru-RU" dirty="0"/>
          </a:p>
        </p:txBody>
      </p:sp>
      <p:pic>
        <p:nvPicPr>
          <p:cNvPr id="5123" name="Picture 3"/>
          <p:cNvPicPr>
            <a:picLocks noGrp="1" noChangeAspect="1" noChangeArrowheads="1"/>
          </p:cNvPicPr>
          <p:nvPr>
            <p:ph idx="1"/>
          </p:nvPr>
        </p:nvPicPr>
        <p:blipFill>
          <a:blip r:embed="rId2" cstate="print"/>
          <a:srcRect/>
          <a:stretch>
            <a:fillRect/>
          </a:stretch>
        </p:blipFill>
        <p:spPr bwMode="auto">
          <a:xfrm>
            <a:off x="1577220" y="2132856"/>
            <a:ext cx="6232292" cy="4536504"/>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cstate="print"/>
          <a:srcRect/>
          <a:stretch>
            <a:fillRect/>
          </a:stretch>
        </p:blipFill>
        <p:spPr bwMode="auto">
          <a:xfrm>
            <a:off x="2432376" y="83526"/>
            <a:ext cx="4452589" cy="6657842"/>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cstate="print"/>
          <a:srcRect/>
          <a:stretch>
            <a:fillRect/>
          </a:stretch>
        </p:blipFill>
        <p:spPr bwMode="auto">
          <a:xfrm>
            <a:off x="1705442" y="74594"/>
            <a:ext cx="6093488" cy="6666774"/>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4653136"/>
            <a:ext cx="8229600" cy="2016224"/>
          </a:xfrm>
        </p:spPr>
        <p:txBody>
          <a:bodyPr>
            <a:noAutofit/>
          </a:bodyPr>
          <a:lstStyle/>
          <a:p>
            <a:pPr marL="0" indent="0" algn="just">
              <a:spcBef>
                <a:spcPts val="0"/>
              </a:spcBef>
              <a:buNone/>
            </a:pPr>
            <a:r>
              <a:rPr lang="ru-RU" sz="2000" dirty="0" smtClean="0"/>
              <a:t>После ввода переменных для того, чтобы включить в модель взаимодействие пола и профессии, следует щелкнуть по кнопке Межгрупповые эффекты, в открывшемся окне выделить опцию Использовать пользовательские эффекты и выделить переменные в соответствии со слайдом. После выбора категориальных переменных надо щелкнуть по кнопке Взаимодействие.</a:t>
            </a:r>
            <a:endParaRPr lang="ru-RU" sz="2000" dirty="0"/>
          </a:p>
        </p:txBody>
      </p:sp>
      <p:pic>
        <p:nvPicPr>
          <p:cNvPr id="1026" name="Picture 2"/>
          <p:cNvPicPr>
            <a:picLocks noChangeAspect="1" noChangeArrowheads="1"/>
          </p:cNvPicPr>
          <p:nvPr/>
        </p:nvPicPr>
        <p:blipFill>
          <a:blip r:embed="rId2" cstate="print"/>
          <a:srcRect/>
          <a:stretch>
            <a:fillRect/>
          </a:stretch>
        </p:blipFill>
        <p:spPr bwMode="auto">
          <a:xfrm>
            <a:off x="1979712" y="260648"/>
            <a:ext cx="4953000" cy="42576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cstate="print"/>
          <a:srcRect/>
          <a:stretch>
            <a:fillRect/>
          </a:stretch>
        </p:blipFill>
        <p:spPr bwMode="auto">
          <a:xfrm>
            <a:off x="2519741" y="188640"/>
            <a:ext cx="4428523" cy="6521544"/>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07504" y="260648"/>
            <a:ext cx="8856984" cy="3816424"/>
          </a:xfrm>
        </p:spPr>
        <p:txBody>
          <a:bodyPr>
            <a:normAutofit lnSpcReduction="10000"/>
          </a:bodyPr>
          <a:lstStyle/>
          <a:p>
            <a:pPr marL="0" indent="0" algn="just">
              <a:spcBef>
                <a:spcPts val="0"/>
              </a:spcBef>
              <a:buNone/>
            </a:pPr>
            <a:r>
              <a:rPr lang="ru-RU" sz="1900" dirty="0">
                <a:latin typeface="Times New Roman" pitchFamily="18" charset="0"/>
                <a:cs typeface="Times New Roman" pitchFamily="18" charset="0"/>
              </a:rPr>
              <a:t>Если нажать на кнопку </a:t>
            </a:r>
            <a:r>
              <a:rPr lang="ru-RU" sz="1900" i="1" dirty="0">
                <a:latin typeface="Times New Roman" pitchFamily="18" charset="0"/>
                <a:cs typeface="Times New Roman" pitchFamily="18" charset="0"/>
              </a:rPr>
              <a:t>Одномерные  результаты</a:t>
            </a:r>
            <a:r>
              <a:rPr lang="ru-RU" sz="1900" dirty="0">
                <a:latin typeface="Times New Roman" pitchFamily="18" charset="0"/>
                <a:cs typeface="Times New Roman" pitchFamily="18" charset="0"/>
              </a:rPr>
              <a:t>, то откроется таблица, в которой приведены одномерные результаты для оценки степени и характера взаимосвязи отклика</a:t>
            </a:r>
            <a:r>
              <a:rPr lang="ru-RU" sz="1900" i="1" dirty="0">
                <a:latin typeface="Times New Roman" pitchFamily="18" charset="0"/>
                <a:cs typeface="Times New Roman" pitchFamily="18" charset="0"/>
              </a:rPr>
              <a:t> </a:t>
            </a:r>
            <a:r>
              <a:rPr lang="en-US" sz="1900" i="1" dirty="0">
                <a:latin typeface="Times New Roman" pitchFamily="18" charset="0"/>
                <a:cs typeface="Times New Roman" pitchFamily="18" charset="0"/>
              </a:rPr>
              <a:t>SLAT </a:t>
            </a:r>
            <a:r>
              <a:rPr lang="ru-RU" sz="1900" dirty="0">
                <a:latin typeface="Times New Roman" pitchFamily="18" charset="0"/>
                <a:cs typeface="Times New Roman" pitchFamily="18" charset="0"/>
              </a:rPr>
              <a:t>и эффектов в регрессионной модели (рис.8).  Из таблицы видно, что статистически значимы все эффекты за исключением </a:t>
            </a:r>
            <a:r>
              <a:rPr lang="ru-RU" sz="1900" i="1" dirty="0">
                <a:latin typeface="Times New Roman" pitchFamily="18" charset="0"/>
                <a:cs typeface="Times New Roman" pitchFamily="18" charset="0"/>
              </a:rPr>
              <a:t>Длит. набл.</a:t>
            </a:r>
            <a:r>
              <a:rPr lang="ru-RU" sz="1900" dirty="0">
                <a:latin typeface="Times New Roman" pitchFamily="18" charset="0"/>
                <a:cs typeface="Times New Roman" pitchFamily="18" charset="0"/>
              </a:rPr>
              <a:t>, так как уровни значимости </a:t>
            </a:r>
            <a:r>
              <a:rPr lang="ru-RU" sz="1900" i="1" dirty="0">
                <a:latin typeface="Times New Roman" pitchFamily="18" charset="0"/>
                <a:cs typeface="Times New Roman" pitchFamily="18" charset="0"/>
              </a:rPr>
              <a:t>р</a:t>
            </a:r>
            <a:r>
              <a:rPr lang="ru-RU" sz="1900" dirty="0">
                <a:latin typeface="Times New Roman" pitchFamily="18" charset="0"/>
                <a:cs typeface="Times New Roman" pitchFamily="18" charset="0"/>
              </a:rPr>
              <a:t> критерия Фишера меньше, чем 0,05.  Но и для переменной  </a:t>
            </a:r>
            <a:r>
              <a:rPr lang="ru-RU" sz="1900" i="1" dirty="0">
                <a:latin typeface="Times New Roman" pitchFamily="18" charset="0"/>
                <a:cs typeface="Times New Roman" pitchFamily="18" charset="0"/>
              </a:rPr>
              <a:t>Длит. набл.</a:t>
            </a:r>
            <a:r>
              <a:rPr lang="ru-RU" sz="1900" dirty="0">
                <a:latin typeface="Times New Roman" pitchFamily="18" charset="0"/>
                <a:cs typeface="Times New Roman" pitchFamily="18" charset="0"/>
              </a:rPr>
              <a:t> уровень значимости </a:t>
            </a:r>
            <a:r>
              <a:rPr lang="ru-RU" sz="1900" i="1" dirty="0">
                <a:latin typeface="Times New Roman" pitchFamily="18" charset="0"/>
                <a:cs typeface="Times New Roman" pitchFamily="18" charset="0"/>
              </a:rPr>
              <a:t>р</a:t>
            </a:r>
            <a:r>
              <a:rPr lang="ru-RU" sz="1900" dirty="0">
                <a:latin typeface="Times New Roman" pitchFamily="18" charset="0"/>
                <a:cs typeface="Times New Roman" pitchFamily="18" charset="0"/>
              </a:rPr>
              <a:t> равный 0,07, незначительно превосходит 0,05. Другими словами факторы  </a:t>
            </a:r>
            <a:r>
              <a:rPr lang="ru-RU" sz="1900" i="1" dirty="0">
                <a:latin typeface="Times New Roman" pitchFamily="18" charset="0"/>
                <a:cs typeface="Times New Roman" pitchFamily="18" charset="0"/>
              </a:rPr>
              <a:t>Пол</a:t>
            </a:r>
            <a:r>
              <a:rPr lang="ru-RU" sz="1900" dirty="0">
                <a:latin typeface="Times New Roman" pitchFamily="18" charset="0"/>
                <a:cs typeface="Times New Roman" pitchFamily="18" charset="0"/>
              </a:rPr>
              <a:t>,  </a:t>
            </a:r>
            <a:r>
              <a:rPr lang="ru-RU" sz="1900" i="1" dirty="0">
                <a:latin typeface="Times New Roman" pitchFamily="18" charset="0"/>
                <a:cs typeface="Times New Roman" pitchFamily="18" charset="0"/>
              </a:rPr>
              <a:t>Профессия </a:t>
            </a:r>
            <a:r>
              <a:rPr lang="ru-RU" sz="1900" dirty="0">
                <a:latin typeface="Times New Roman" pitchFamily="18" charset="0"/>
                <a:cs typeface="Times New Roman" pitchFamily="18" charset="0"/>
              </a:rPr>
              <a:t>влияют на отклик, но они также взаимодействуют в своем влиянии на него. Величина </a:t>
            </a:r>
            <a:r>
              <a:rPr lang="en-US" sz="1900" dirty="0">
                <a:latin typeface="Times New Roman" pitchFamily="18" charset="0"/>
                <a:cs typeface="Times New Roman" pitchFamily="18" charset="0"/>
              </a:rPr>
              <a:t>SS </a:t>
            </a:r>
            <a:r>
              <a:rPr lang="ru-RU" sz="1900" dirty="0">
                <a:latin typeface="Times New Roman" pitchFamily="18" charset="0"/>
                <a:cs typeface="Times New Roman" pitchFamily="18" charset="0"/>
              </a:rPr>
              <a:t>представляет собою сумму квадратов отклонений отклика от среднего значения, инициированную данным предиктором модели и характеризует вклад предиктора в изменчивость отклика.  Наибольший вклад в изменчивость  показателя выраженности стресса в баллах после терапии увлечением (</a:t>
            </a:r>
            <a:r>
              <a:rPr lang="en-US" sz="1900" i="1" dirty="0">
                <a:latin typeface="Times New Roman" pitchFamily="18" charset="0"/>
                <a:cs typeface="Times New Roman" pitchFamily="18" charset="0"/>
              </a:rPr>
              <a:t>SLAT</a:t>
            </a:r>
            <a:r>
              <a:rPr lang="ru-RU" sz="1900" dirty="0">
                <a:latin typeface="Times New Roman" pitchFamily="18" charset="0"/>
                <a:cs typeface="Times New Roman" pitchFamily="18" charset="0"/>
              </a:rPr>
              <a:t>) вносит эффект </a:t>
            </a:r>
            <a:r>
              <a:rPr lang="ru-RU" sz="1900" i="1" dirty="0">
                <a:latin typeface="Times New Roman" pitchFamily="18" charset="0"/>
                <a:cs typeface="Times New Roman" pitchFamily="18" charset="0"/>
              </a:rPr>
              <a:t>Профессия</a:t>
            </a:r>
            <a:r>
              <a:rPr lang="ru-RU" sz="1900" dirty="0">
                <a:latin typeface="Times New Roman" pitchFamily="18" charset="0"/>
                <a:cs typeface="Times New Roman" pitchFamily="18" charset="0"/>
              </a:rPr>
              <a:t>, так как статистика </a:t>
            </a:r>
            <a:r>
              <a:rPr lang="en-US" sz="1900" i="1" dirty="0">
                <a:latin typeface="Times New Roman" pitchFamily="18" charset="0"/>
                <a:cs typeface="Times New Roman" pitchFamily="18" charset="0"/>
              </a:rPr>
              <a:t>SS</a:t>
            </a:r>
            <a:r>
              <a:rPr lang="ru-RU" sz="1900" dirty="0">
                <a:latin typeface="Times New Roman" pitchFamily="18" charset="0"/>
                <a:cs typeface="Times New Roman" pitchFamily="18" charset="0"/>
              </a:rPr>
              <a:t>, равная 410,091, принимает наибольшее значение. Далее идут эффекты </a:t>
            </a:r>
            <a:r>
              <a:rPr lang="ru-RU" sz="1900" i="1" dirty="0">
                <a:latin typeface="Times New Roman" pitchFamily="18" charset="0"/>
                <a:cs typeface="Times New Roman" pitchFamily="18" charset="0"/>
              </a:rPr>
              <a:t>Пол*Профессия</a:t>
            </a:r>
            <a:r>
              <a:rPr lang="ru-RU" sz="1900" dirty="0">
                <a:latin typeface="Times New Roman" pitchFamily="18" charset="0"/>
                <a:cs typeface="Times New Roman" pitchFamily="18" charset="0"/>
              </a:rPr>
              <a:t>, </a:t>
            </a:r>
            <a:r>
              <a:rPr lang="ru-RU" sz="1900" i="1" dirty="0">
                <a:latin typeface="Times New Roman" pitchFamily="18" charset="0"/>
                <a:cs typeface="Times New Roman" pitchFamily="18" charset="0"/>
              </a:rPr>
              <a:t>SLBT</a:t>
            </a:r>
            <a:r>
              <a:rPr lang="ru-RU" sz="1900" dirty="0">
                <a:latin typeface="Times New Roman" pitchFamily="18" charset="0"/>
                <a:cs typeface="Times New Roman" pitchFamily="18" charset="0"/>
              </a:rPr>
              <a:t>, </a:t>
            </a:r>
            <a:r>
              <a:rPr lang="ru-RU" sz="1900" i="1" dirty="0">
                <a:latin typeface="Times New Roman" pitchFamily="18" charset="0"/>
                <a:cs typeface="Times New Roman" pitchFamily="18" charset="0"/>
              </a:rPr>
              <a:t>Возраст</a:t>
            </a:r>
            <a:r>
              <a:rPr lang="ru-RU" sz="1900" dirty="0">
                <a:latin typeface="Times New Roman" pitchFamily="18" charset="0"/>
                <a:cs typeface="Times New Roman" pitchFamily="18" charset="0"/>
              </a:rPr>
              <a:t>, </a:t>
            </a:r>
            <a:r>
              <a:rPr lang="ru-RU" sz="1900" i="1" dirty="0">
                <a:latin typeface="Times New Roman" pitchFamily="18" charset="0"/>
                <a:cs typeface="Times New Roman" pitchFamily="18" charset="0"/>
              </a:rPr>
              <a:t>Пол</a:t>
            </a:r>
            <a:r>
              <a:rPr lang="ru-RU" sz="1900" dirty="0">
                <a:latin typeface="Times New Roman" pitchFamily="18" charset="0"/>
                <a:cs typeface="Times New Roman" pitchFamily="18" charset="0"/>
              </a:rPr>
              <a:t>, </a:t>
            </a:r>
            <a:r>
              <a:rPr lang="ru-RU" sz="1900" i="1" dirty="0">
                <a:latin typeface="Times New Roman" pitchFamily="18" charset="0"/>
                <a:cs typeface="Times New Roman" pitchFamily="18" charset="0"/>
              </a:rPr>
              <a:t>Длит. набл.</a:t>
            </a:r>
            <a:endParaRPr lang="ru-RU" sz="1900" dirty="0">
              <a:latin typeface="Times New Roman" pitchFamily="18" charset="0"/>
              <a:cs typeface="Times New Roman" pitchFamily="18" charset="0"/>
            </a:endParaRPr>
          </a:p>
          <a:p>
            <a:endParaRPr lang="ru-RU" dirty="0" smtClean="0"/>
          </a:p>
          <a:p>
            <a:endParaRPr lang="ru-RU"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p:cNvPicPr>
            <a:picLocks noGrp="1" noChangeAspect="1" noChangeArrowheads="1"/>
          </p:cNvPicPr>
          <p:nvPr>
            <p:ph idx="1"/>
          </p:nvPr>
        </p:nvPicPr>
        <p:blipFill>
          <a:blip r:embed="rId2" cstate="print"/>
          <a:srcRect/>
          <a:stretch>
            <a:fillRect/>
          </a:stretch>
        </p:blipFill>
        <p:spPr bwMode="auto">
          <a:xfrm>
            <a:off x="1214469" y="188640"/>
            <a:ext cx="7413563" cy="6408712"/>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9512" y="116632"/>
            <a:ext cx="8784976" cy="6552728"/>
          </a:xfrm>
        </p:spPr>
        <p:txBody>
          <a:bodyPr>
            <a:noAutofit/>
          </a:bodyPr>
          <a:lstStyle/>
          <a:p>
            <a:pPr marL="0" indent="0" algn="just">
              <a:spcBef>
                <a:spcPts val="0"/>
              </a:spcBef>
            </a:pPr>
            <a:r>
              <a:rPr lang="ru-RU" sz="1900" dirty="0" smtClean="0">
                <a:latin typeface="Times New Roman" pitchFamily="18" charset="0"/>
                <a:cs typeface="Times New Roman" pitchFamily="18" charset="0"/>
              </a:rPr>
              <a:t>    При такой параметризации каждый эффект (фактор) представляется в виде совокупности одноименных двухуровневых эффектов. Например, так как переменная </a:t>
            </a:r>
            <a:r>
              <a:rPr lang="ru-RU" sz="1900" i="1" dirty="0" smtClean="0">
                <a:latin typeface="Times New Roman" pitchFamily="18" charset="0"/>
                <a:cs typeface="Times New Roman" pitchFamily="18" charset="0"/>
              </a:rPr>
              <a:t>Пол</a:t>
            </a:r>
            <a:r>
              <a:rPr lang="ru-RU" sz="1900" dirty="0" smtClean="0">
                <a:latin typeface="Times New Roman" pitchFamily="18" charset="0"/>
                <a:cs typeface="Times New Roman" pitchFamily="18" charset="0"/>
              </a:rPr>
              <a:t> имеет два уровня, то она и представляется с двумя уровнями: </a:t>
            </a:r>
            <a:r>
              <a:rPr lang="ru-RU" sz="1900" i="1" dirty="0" smtClean="0">
                <a:latin typeface="Times New Roman" pitchFamily="18" charset="0"/>
                <a:cs typeface="Times New Roman" pitchFamily="18" charset="0"/>
              </a:rPr>
              <a:t>муж.</a:t>
            </a:r>
            <a:r>
              <a:rPr lang="ru-RU" sz="1900" dirty="0" smtClean="0">
                <a:latin typeface="Times New Roman" pitchFamily="18" charset="0"/>
                <a:cs typeface="Times New Roman" pitchFamily="18" charset="0"/>
              </a:rPr>
              <a:t>, </a:t>
            </a:r>
            <a:r>
              <a:rPr lang="ru-RU" sz="1900" i="1" dirty="0" smtClean="0">
                <a:latin typeface="Times New Roman" pitchFamily="18" charset="0"/>
                <a:cs typeface="Times New Roman" pitchFamily="18" charset="0"/>
              </a:rPr>
              <a:t>жен</a:t>
            </a:r>
            <a:r>
              <a:rPr lang="ru-RU" sz="1900" dirty="0" smtClean="0">
                <a:latin typeface="Times New Roman" pitchFamily="18" charset="0"/>
                <a:cs typeface="Times New Roman" pitchFamily="18" charset="0"/>
              </a:rPr>
              <a:t>. Предиктор  </a:t>
            </a:r>
            <a:r>
              <a:rPr lang="ru-RU" sz="1900" i="1" dirty="0" smtClean="0">
                <a:latin typeface="Times New Roman" pitchFamily="18" charset="0"/>
                <a:cs typeface="Times New Roman" pitchFamily="18" charset="0"/>
              </a:rPr>
              <a:t>Профессия</a:t>
            </a:r>
            <a:r>
              <a:rPr lang="ru-RU" sz="1900" dirty="0" smtClean="0">
                <a:latin typeface="Times New Roman" pitchFamily="18" charset="0"/>
                <a:cs typeface="Times New Roman" pitchFamily="18" charset="0"/>
              </a:rPr>
              <a:t> состоит из 3 уровней, поэтому представляется в виде 2 одноименных двухуровневых переменных: </a:t>
            </a:r>
            <a:r>
              <a:rPr lang="ru-RU" sz="1900" i="1" dirty="0" smtClean="0">
                <a:latin typeface="Times New Roman" pitchFamily="18" charset="0"/>
                <a:cs typeface="Times New Roman" pitchFamily="18" charset="0"/>
              </a:rPr>
              <a:t>Профессия</a:t>
            </a:r>
            <a:r>
              <a:rPr lang="ru-RU" sz="1900" i="1" baseline="-25000" dirty="0" smtClean="0">
                <a:latin typeface="Times New Roman" pitchFamily="18" charset="0"/>
                <a:cs typeface="Times New Roman" pitchFamily="18" charset="0"/>
              </a:rPr>
              <a:t>1</a:t>
            </a:r>
            <a:r>
              <a:rPr lang="ru-RU" sz="1900" dirty="0" smtClean="0">
                <a:latin typeface="Times New Roman" pitchFamily="18" charset="0"/>
                <a:cs typeface="Times New Roman" pitchFamily="18" charset="0"/>
              </a:rPr>
              <a:t> (</a:t>
            </a:r>
            <a:r>
              <a:rPr lang="ru-RU" sz="1900" i="1" dirty="0" smtClean="0">
                <a:latin typeface="Times New Roman" pitchFamily="18" charset="0"/>
                <a:cs typeface="Times New Roman" pitchFamily="18" charset="0"/>
              </a:rPr>
              <a:t>врач</a:t>
            </a:r>
            <a:r>
              <a:rPr lang="ru-RU" sz="1900" dirty="0" smtClean="0">
                <a:latin typeface="Times New Roman" pitchFamily="18" charset="0"/>
                <a:cs typeface="Times New Roman" pitchFamily="18" charset="0"/>
              </a:rPr>
              <a:t>, </a:t>
            </a:r>
            <a:r>
              <a:rPr lang="ru-RU" sz="1900" i="1" dirty="0" smtClean="0">
                <a:latin typeface="Times New Roman" pitchFamily="18" charset="0"/>
                <a:cs typeface="Times New Roman" pitchFamily="18" charset="0"/>
              </a:rPr>
              <a:t>педагог</a:t>
            </a:r>
            <a:r>
              <a:rPr lang="ru-RU" sz="1900" dirty="0" smtClean="0">
                <a:latin typeface="Times New Roman" pitchFamily="18" charset="0"/>
                <a:cs typeface="Times New Roman" pitchFamily="18" charset="0"/>
              </a:rPr>
              <a:t>); </a:t>
            </a:r>
            <a:r>
              <a:rPr lang="ru-RU" sz="1900" i="1" dirty="0" smtClean="0">
                <a:latin typeface="Times New Roman" pitchFamily="18" charset="0"/>
                <a:cs typeface="Times New Roman" pitchFamily="18" charset="0"/>
              </a:rPr>
              <a:t>Профессия</a:t>
            </a:r>
            <a:r>
              <a:rPr lang="ru-RU" sz="1900" i="1" baseline="-25000" dirty="0" smtClean="0">
                <a:latin typeface="Times New Roman" pitchFamily="18" charset="0"/>
                <a:cs typeface="Times New Roman" pitchFamily="18" charset="0"/>
              </a:rPr>
              <a:t>2</a:t>
            </a:r>
            <a:r>
              <a:rPr lang="ru-RU" sz="1900" dirty="0" smtClean="0">
                <a:latin typeface="Times New Roman" pitchFamily="18" charset="0"/>
                <a:cs typeface="Times New Roman" pitchFamily="18" charset="0"/>
              </a:rPr>
              <a:t> (</a:t>
            </a:r>
            <a:r>
              <a:rPr lang="ru-RU" sz="1900" i="1" dirty="0" smtClean="0">
                <a:latin typeface="Times New Roman" pitchFamily="18" charset="0"/>
                <a:cs typeface="Times New Roman" pitchFamily="18" charset="0"/>
              </a:rPr>
              <a:t>менеджер</a:t>
            </a:r>
            <a:r>
              <a:rPr lang="ru-RU" sz="1900" dirty="0" smtClean="0">
                <a:latin typeface="Times New Roman" pitchFamily="18" charset="0"/>
                <a:cs typeface="Times New Roman" pitchFamily="18" charset="0"/>
              </a:rPr>
              <a:t>, </a:t>
            </a:r>
            <a:r>
              <a:rPr lang="ru-RU" sz="1900" i="1" dirty="0" smtClean="0">
                <a:latin typeface="Times New Roman" pitchFamily="18" charset="0"/>
                <a:cs typeface="Times New Roman" pitchFamily="18" charset="0"/>
              </a:rPr>
              <a:t>педагог</a:t>
            </a:r>
            <a:r>
              <a:rPr lang="ru-RU" sz="1900" dirty="0" smtClean="0">
                <a:latin typeface="Times New Roman" pitchFamily="18" charset="0"/>
                <a:cs typeface="Times New Roman" pitchFamily="18" charset="0"/>
              </a:rPr>
              <a:t>). При этом уровню 1 присваивается числовое значение 1, а уровню 2 – числовое значение 0, или –1, в зависимости от того сколько значений принимает качественная переменная.  Например, предиктор </a:t>
            </a:r>
            <a:r>
              <a:rPr lang="ru-RU" sz="1900" i="1" dirty="0" smtClean="0">
                <a:latin typeface="Times New Roman" pitchFamily="18" charset="0"/>
                <a:cs typeface="Times New Roman" pitchFamily="18" charset="0"/>
              </a:rPr>
              <a:t>Пол</a:t>
            </a:r>
            <a:r>
              <a:rPr lang="ru-RU" sz="1900" dirty="0" smtClean="0">
                <a:latin typeface="Times New Roman" pitchFamily="18" charset="0"/>
                <a:cs typeface="Times New Roman" pitchFamily="18" charset="0"/>
              </a:rPr>
              <a:t> принимает 2 значения</a:t>
            </a:r>
            <a:r>
              <a:rPr lang="ru-RU" sz="1900" i="1" dirty="0" smtClean="0">
                <a:latin typeface="Times New Roman" pitchFamily="18" charset="0"/>
                <a:cs typeface="Times New Roman" pitchFamily="18" charset="0"/>
              </a:rPr>
              <a:t> муж.</a:t>
            </a:r>
            <a:r>
              <a:rPr lang="ru-RU" sz="1900" dirty="0" smtClean="0">
                <a:latin typeface="Times New Roman" pitchFamily="18" charset="0"/>
                <a:cs typeface="Times New Roman" pitchFamily="18" charset="0"/>
              </a:rPr>
              <a:t> или </a:t>
            </a:r>
            <a:r>
              <a:rPr lang="ru-RU" sz="1900" i="1" dirty="0" smtClean="0">
                <a:latin typeface="Times New Roman" pitchFamily="18" charset="0"/>
                <a:cs typeface="Times New Roman" pitchFamily="18" charset="0"/>
              </a:rPr>
              <a:t>жен.</a:t>
            </a:r>
            <a:r>
              <a:rPr lang="ru-RU" sz="1900" dirty="0" smtClean="0">
                <a:latin typeface="Times New Roman" pitchFamily="18" charset="0"/>
                <a:cs typeface="Times New Roman" pitchFamily="18" charset="0"/>
              </a:rPr>
              <a:t>, тогда ему соответственно будут присвоены коды 1 (</a:t>
            </a:r>
            <a:r>
              <a:rPr lang="ru-RU" sz="1900" i="1" dirty="0" smtClean="0">
                <a:latin typeface="Times New Roman" pitchFamily="18" charset="0"/>
                <a:cs typeface="Times New Roman" pitchFamily="18" charset="0"/>
              </a:rPr>
              <a:t>Пол=1</a:t>
            </a:r>
            <a:r>
              <a:rPr lang="ru-RU" sz="1900" dirty="0" smtClean="0">
                <a:latin typeface="Times New Roman" pitchFamily="18" charset="0"/>
                <a:cs typeface="Times New Roman" pitchFamily="18" charset="0"/>
              </a:rPr>
              <a:t>) или -1 (</a:t>
            </a:r>
            <a:r>
              <a:rPr lang="ru-RU" sz="1900" i="1" dirty="0" smtClean="0">
                <a:latin typeface="Times New Roman" pitchFamily="18" charset="0"/>
                <a:cs typeface="Times New Roman" pitchFamily="18" charset="0"/>
              </a:rPr>
              <a:t>Пол=-1</a:t>
            </a:r>
            <a:r>
              <a:rPr lang="ru-RU" sz="1900" dirty="0" smtClean="0">
                <a:latin typeface="Times New Roman" pitchFamily="18" charset="0"/>
                <a:cs typeface="Times New Roman" pitchFamily="18" charset="0"/>
              </a:rPr>
              <a:t>). Предиктор </a:t>
            </a:r>
            <a:r>
              <a:rPr lang="ru-RU" sz="1900" i="1" dirty="0" smtClean="0">
                <a:latin typeface="Times New Roman" pitchFamily="18" charset="0"/>
                <a:cs typeface="Times New Roman" pitchFamily="18" charset="0"/>
              </a:rPr>
              <a:t>Профессия</a:t>
            </a:r>
            <a:r>
              <a:rPr lang="ru-RU" sz="1900" i="1" baseline="-25000" dirty="0" smtClean="0">
                <a:latin typeface="Times New Roman" pitchFamily="18" charset="0"/>
                <a:cs typeface="Times New Roman" pitchFamily="18" charset="0"/>
              </a:rPr>
              <a:t>1</a:t>
            </a:r>
            <a:r>
              <a:rPr lang="ru-RU" sz="1900" dirty="0" smtClean="0">
                <a:latin typeface="Times New Roman" pitchFamily="18" charset="0"/>
                <a:cs typeface="Times New Roman" pitchFamily="18" charset="0"/>
              </a:rPr>
              <a:t> в строке 6 таблицы принимает 2 значения </a:t>
            </a:r>
            <a:r>
              <a:rPr lang="ru-RU" sz="1900" i="1" dirty="0" smtClean="0">
                <a:latin typeface="Times New Roman" pitchFamily="18" charset="0"/>
                <a:cs typeface="Times New Roman" pitchFamily="18" charset="0"/>
              </a:rPr>
              <a:t>врач</a:t>
            </a:r>
            <a:r>
              <a:rPr lang="ru-RU" sz="1900" dirty="0" smtClean="0">
                <a:latin typeface="Times New Roman" pitchFamily="18" charset="0"/>
                <a:cs typeface="Times New Roman" pitchFamily="18" charset="0"/>
              </a:rPr>
              <a:t>, </a:t>
            </a:r>
            <a:r>
              <a:rPr lang="ru-RU" sz="1900" i="1" dirty="0" smtClean="0">
                <a:latin typeface="Times New Roman" pitchFamily="18" charset="0"/>
                <a:cs typeface="Times New Roman" pitchFamily="18" charset="0"/>
              </a:rPr>
              <a:t>педагог</a:t>
            </a:r>
            <a:r>
              <a:rPr lang="ru-RU" sz="1900" dirty="0" smtClean="0">
                <a:latin typeface="Times New Roman" pitchFamily="18" charset="0"/>
                <a:cs typeface="Times New Roman" pitchFamily="18" charset="0"/>
              </a:rPr>
              <a:t>, тогда соответственно </a:t>
            </a:r>
            <a:r>
              <a:rPr lang="ru-RU" sz="1900" i="1" dirty="0" smtClean="0">
                <a:latin typeface="Times New Roman" pitchFamily="18" charset="0"/>
                <a:cs typeface="Times New Roman" pitchFamily="18" charset="0"/>
              </a:rPr>
              <a:t>Профессия</a:t>
            </a:r>
            <a:r>
              <a:rPr lang="ru-RU" sz="1900" i="1" baseline="-25000" dirty="0" smtClean="0">
                <a:latin typeface="Times New Roman" pitchFamily="18" charset="0"/>
                <a:cs typeface="Times New Roman" pitchFamily="18" charset="0"/>
              </a:rPr>
              <a:t>1</a:t>
            </a:r>
            <a:r>
              <a:rPr lang="ru-RU" sz="1900" dirty="0" smtClean="0">
                <a:latin typeface="Times New Roman" pitchFamily="18" charset="0"/>
                <a:cs typeface="Times New Roman" pitchFamily="18" charset="0"/>
              </a:rPr>
              <a:t> =1, или </a:t>
            </a:r>
            <a:r>
              <a:rPr lang="ru-RU" sz="1900" i="1" dirty="0" smtClean="0">
                <a:latin typeface="Times New Roman" pitchFamily="18" charset="0"/>
                <a:cs typeface="Times New Roman" pitchFamily="18" charset="0"/>
              </a:rPr>
              <a:t>Профессия</a:t>
            </a:r>
            <a:r>
              <a:rPr lang="ru-RU" sz="1900" i="1" baseline="-25000" dirty="0" smtClean="0">
                <a:latin typeface="Times New Roman" pitchFamily="18" charset="0"/>
                <a:cs typeface="Times New Roman" pitchFamily="18" charset="0"/>
              </a:rPr>
              <a:t>1</a:t>
            </a:r>
            <a:r>
              <a:rPr lang="ru-RU" sz="1900" dirty="0" smtClean="0">
                <a:latin typeface="Times New Roman" pitchFamily="18" charset="0"/>
                <a:cs typeface="Times New Roman" pitchFamily="18" charset="0"/>
              </a:rPr>
              <a:t> = –1. Если респондент имеет профессию </a:t>
            </a:r>
            <a:r>
              <a:rPr lang="ru-RU" sz="1900" i="1" dirty="0" smtClean="0">
                <a:latin typeface="Times New Roman" pitchFamily="18" charset="0"/>
                <a:cs typeface="Times New Roman" pitchFamily="18" charset="0"/>
              </a:rPr>
              <a:t>менеджер,</a:t>
            </a:r>
            <a:r>
              <a:rPr lang="ru-RU" sz="1900" dirty="0" smtClean="0">
                <a:latin typeface="Times New Roman" pitchFamily="18" charset="0"/>
                <a:cs typeface="Times New Roman" pitchFamily="18" charset="0"/>
              </a:rPr>
              <a:t> то </a:t>
            </a:r>
            <a:r>
              <a:rPr lang="ru-RU" sz="1900" i="1" dirty="0" smtClean="0">
                <a:latin typeface="Times New Roman" pitchFamily="18" charset="0"/>
                <a:cs typeface="Times New Roman" pitchFamily="18" charset="0"/>
              </a:rPr>
              <a:t>Профессия</a:t>
            </a:r>
            <a:r>
              <a:rPr lang="ru-RU" sz="1900" i="1" baseline="-25000" dirty="0" smtClean="0">
                <a:latin typeface="Times New Roman" pitchFamily="18" charset="0"/>
                <a:cs typeface="Times New Roman" pitchFamily="18" charset="0"/>
              </a:rPr>
              <a:t>1</a:t>
            </a:r>
            <a:r>
              <a:rPr lang="ru-RU" sz="1900" baseline="-25000" dirty="0" smtClean="0">
                <a:latin typeface="Times New Roman" pitchFamily="18" charset="0"/>
                <a:cs typeface="Times New Roman" pitchFamily="18" charset="0"/>
              </a:rPr>
              <a:t> </a:t>
            </a:r>
            <a:r>
              <a:rPr lang="ru-RU" sz="1900" dirty="0" smtClean="0">
                <a:latin typeface="Times New Roman" pitchFamily="18" charset="0"/>
                <a:cs typeface="Times New Roman" pitchFamily="18" charset="0"/>
              </a:rPr>
              <a:t>= 0. </a:t>
            </a:r>
            <a:r>
              <a:rPr lang="ru-RU" sz="1900" i="1" dirty="0" smtClean="0">
                <a:latin typeface="Times New Roman" pitchFamily="18" charset="0"/>
                <a:cs typeface="Times New Roman" pitchFamily="18" charset="0"/>
              </a:rPr>
              <a:t> </a:t>
            </a:r>
            <a:r>
              <a:rPr lang="ru-RU" sz="1900" dirty="0" smtClean="0">
                <a:latin typeface="Times New Roman" pitchFamily="18" charset="0"/>
                <a:cs typeface="Times New Roman" pitchFamily="18" charset="0"/>
              </a:rPr>
              <a:t> Предиктор</a:t>
            </a:r>
            <a:r>
              <a:rPr lang="ru-RU" sz="1900" i="1" dirty="0" smtClean="0">
                <a:latin typeface="Times New Roman" pitchFamily="18" charset="0"/>
                <a:cs typeface="Times New Roman" pitchFamily="18" charset="0"/>
              </a:rPr>
              <a:t> Профессия</a:t>
            </a:r>
            <a:r>
              <a:rPr lang="ru-RU" sz="1900" i="1" baseline="-25000" dirty="0" smtClean="0">
                <a:latin typeface="Times New Roman" pitchFamily="18" charset="0"/>
                <a:cs typeface="Times New Roman" pitchFamily="18" charset="0"/>
              </a:rPr>
              <a:t>2</a:t>
            </a:r>
            <a:r>
              <a:rPr lang="ru-RU" sz="1900" dirty="0" smtClean="0">
                <a:latin typeface="Times New Roman" pitchFamily="18" charset="0"/>
                <a:cs typeface="Times New Roman" pitchFamily="18" charset="0"/>
              </a:rPr>
              <a:t> в строке 7 имеет 2 значения</a:t>
            </a:r>
            <a:r>
              <a:rPr lang="ru-RU" sz="1900" i="1" dirty="0" smtClean="0">
                <a:latin typeface="Times New Roman" pitchFamily="18" charset="0"/>
                <a:cs typeface="Times New Roman" pitchFamily="18" charset="0"/>
              </a:rPr>
              <a:t> менеджер</a:t>
            </a:r>
            <a:r>
              <a:rPr lang="ru-RU" sz="1900" dirty="0" smtClean="0">
                <a:latin typeface="Times New Roman" pitchFamily="18" charset="0"/>
                <a:cs typeface="Times New Roman" pitchFamily="18" charset="0"/>
              </a:rPr>
              <a:t>, </a:t>
            </a:r>
            <a:r>
              <a:rPr lang="ru-RU" sz="1900" i="1" dirty="0" smtClean="0">
                <a:latin typeface="Times New Roman" pitchFamily="18" charset="0"/>
                <a:cs typeface="Times New Roman" pitchFamily="18" charset="0"/>
              </a:rPr>
              <a:t>педагог</a:t>
            </a:r>
            <a:r>
              <a:rPr lang="ru-RU" sz="1900" dirty="0" smtClean="0">
                <a:latin typeface="Times New Roman" pitchFamily="18" charset="0"/>
                <a:cs typeface="Times New Roman" pitchFamily="18" charset="0"/>
              </a:rPr>
              <a:t>, тогда соответственно </a:t>
            </a:r>
            <a:r>
              <a:rPr lang="ru-RU" sz="1900" i="1" dirty="0" smtClean="0">
                <a:latin typeface="Times New Roman" pitchFamily="18" charset="0"/>
                <a:cs typeface="Times New Roman" pitchFamily="18" charset="0"/>
              </a:rPr>
              <a:t>Профессия</a:t>
            </a:r>
            <a:r>
              <a:rPr lang="ru-RU" sz="1900" i="1" baseline="-25000" dirty="0" smtClean="0">
                <a:latin typeface="Times New Roman" pitchFamily="18" charset="0"/>
                <a:cs typeface="Times New Roman" pitchFamily="18" charset="0"/>
              </a:rPr>
              <a:t>2</a:t>
            </a:r>
            <a:r>
              <a:rPr lang="ru-RU" sz="1900" dirty="0" smtClean="0">
                <a:latin typeface="Times New Roman" pitchFamily="18" charset="0"/>
                <a:cs typeface="Times New Roman" pitchFamily="18" charset="0"/>
              </a:rPr>
              <a:t> =1, или </a:t>
            </a:r>
            <a:r>
              <a:rPr lang="ru-RU" sz="1900" i="1" dirty="0" smtClean="0">
                <a:latin typeface="Times New Roman" pitchFamily="18" charset="0"/>
                <a:cs typeface="Times New Roman" pitchFamily="18" charset="0"/>
              </a:rPr>
              <a:t>Профессия</a:t>
            </a:r>
            <a:r>
              <a:rPr lang="ru-RU" sz="1900" i="1" baseline="-25000" dirty="0" smtClean="0">
                <a:latin typeface="Times New Roman" pitchFamily="18" charset="0"/>
                <a:cs typeface="Times New Roman" pitchFamily="18" charset="0"/>
              </a:rPr>
              <a:t>2</a:t>
            </a:r>
            <a:r>
              <a:rPr lang="ru-RU" sz="1900" dirty="0" smtClean="0">
                <a:latin typeface="Times New Roman" pitchFamily="18" charset="0"/>
                <a:cs typeface="Times New Roman" pitchFamily="18" charset="0"/>
              </a:rPr>
              <a:t> = –1. Если респондент имеет профессию </a:t>
            </a:r>
            <a:r>
              <a:rPr lang="ru-RU" sz="1900" i="1" dirty="0" smtClean="0">
                <a:latin typeface="Times New Roman" pitchFamily="18" charset="0"/>
                <a:cs typeface="Times New Roman" pitchFamily="18" charset="0"/>
              </a:rPr>
              <a:t>врач,</a:t>
            </a:r>
            <a:r>
              <a:rPr lang="ru-RU" sz="1900" dirty="0" smtClean="0">
                <a:latin typeface="Times New Roman" pitchFamily="18" charset="0"/>
                <a:cs typeface="Times New Roman" pitchFamily="18" charset="0"/>
              </a:rPr>
              <a:t> то </a:t>
            </a:r>
            <a:r>
              <a:rPr lang="ru-RU" sz="1900" i="1" dirty="0" smtClean="0">
                <a:latin typeface="Times New Roman" pitchFamily="18" charset="0"/>
                <a:cs typeface="Times New Roman" pitchFamily="18" charset="0"/>
              </a:rPr>
              <a:t>Профессия</a:t>
            </a:r>
            <a:r>
              <a:rPr lang="ru-RU" sz="1900" i="1" baseline="-25000" dirty="0" smtClean="0">
                <a:latin typeface="Times New Roman" pitchFamily="18" charset="0"/>
                <a:cs typeface="Times New Roman" pitchFamily="18" charset="0"/>
              </a:rPr>
              <a:t>2</a:t>
            </a:r>
            <a:r>
              <a:rPr lang="ru-RU" sz="1900" baseline="-25000" dirty="0" smtClean="0">
                <a:latin typeface="Times New Roman" pitchFamily="18" charset="0"/>
                <a:cs typeface="Times New Roman" pitchFamily="18" charset="0"/>
              </a:rPr>
              <a:t> </a:t>
            </a:r>
            <a:r>
              <a:rPr lang="ru-RU" sz="1900" dirty="0" smtClean="0">
                <a:latin typeface="Times New Roman" pitchFamily="18" charset="0"/>
                <a:cs typeface="Times New Roman" pitchFamily="18" charset="0"/>
              </a:rPr>
              <a:t>= 0. </a:t>
            </a:r>
            <a:r>
              <a:rPr lang="ru-RU" sz="1900" i="1" dirty="0" smtClean="0">
                <a:latin typeface="Times New Roman" pitchFamily="18" charset="0"/>
                <a:cs typeface="Times New Roman" pitchFamily="18" charset="0"/>
              </a:rPr>
              <a:t> </a:t>
            </a:r>
            <a:r>
              <a:rPr lang="ru-RU" sz="1900" dirty="0" smtClean="0">
                <a:latin typeface="Times New Roman" pitchFamily="18" charset="0"/>
                <a:cs typeface="Times New Roman" pitchFamily="18" charset="0"/>
              </a:rPr>
              <a:t> </a:t>
            </a:r>
          </a:p>
          <a:p>
            <a:pPr marL="0" indent="0" algn="just">
              <a:spcBef>
                <a:spcPts val="0"/>
              </a:spcBef>
            </a:pPr>
            <a:r>
              <a:rPr lang="ru-RU" sz="1900" dirty="0" smtClean="0">
                <a:latin typeface="Times New Roman" pitchFamily="18" charset="0"/>
                <a:cs typeface="Times New Roman" pitchFamily="18" charset="0"/>
              </a:rPr>
              <a:t>Значения, обозначающие членство в одной из двух групп, выбираются с учетом облегчения последующей интерпретации регрессионного коэффициента, соответствующего этому предиктору. Поэтому, если регрессионный коэффициент для этой переменной является положительным, то группа, закодированная с помощью значения 1, будет иметь большее предсказанное значение отклика. Если получен отрицательный регрессионный коэффициент, то группа, закодированная значением 1, будет иметь меньшее предсказанное значение отклика. </a:t>
            </a:r>
          </a:p>
          <a:p>
            <a:pPr marL="0" indent="0" algn="just">
              <a:spcBef>
                <a:spcPts val="0"/>
              </a:spcBef>
            </a:pPr>
            <a:endParaRPr lang="ru-RU" sz="19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9512" y="188640"/>
            <a:ext cx="8784976" cy="6552728"/>
          </a:xfrm>
        </p:spPr>
        <p:txBody>
          <a:bodyPr>
            <a:normAutofit fontScale="47500" lnSpcReduction="20000"/>
          </a:bodyPr>
          <a:lstStyle/>
          <a:p>
            <a:pPr marL="0" indent="0" algn="just">
              <a:spcBef>
                <a:spcPts val="0"/>
              </a:spcBef>
              <a:buNone/>
            </a:pPr>
            <a:r>
              <a:rPr lang="ru-RU" sz="4000" dirty="0" smtClean="0">
                <a:latin typeface="Times New Roman" pitchFamily="18" charset="0"/>
                <a:cs typeface="Times New Roman" pitchFamily="18" charset="0"/>
              </a:rPr>
              <a:t>    </a:t>
            </a:r>
          </a:p>
          <a:p>
            <a:pPr marL="0" indent="0" algn="just">
              <a:spcBef>
                <a:spcPts val="0"/>
              </a:spcBef>
              <a:buNone/>
            </a:pPr>
            <a:r>
              <a:rPr lang="ru-RU" sz="4000" dirty="0" smtClean="0">
                <a:latin typeface="Times New Roman" pitchFamily="18" charset="0"/>
                <a:cs typeface="Times New Roman" pitchFamily="18" charset="0"/>
              </a:rPr>
              <a:t>Значения сложных эффектов </a:t>
            </a:r>
            <a:r>
              <a:rPr lang="ru-RU" sz="4000" i="1" dirty="0" smtClean="0">
                <a:latin typeface="Times New Roman" pitchFamily="18" charset="0"/>
                <a:cs typeface="Times New Roman" pitchFamily="18" charset="0"/>
              </a:rPr>
              <a:t>Пол*Профессия</a:t>
            </a:r>
            <a:r>
              <a:rPr lang="ru-RU" sz="4000" dirty="0" smtClean="0">
                <a:latin typeface="Times New Roman" pitchFamily="18" charset="0"/>
                <a:cs typeface="Times New Roman" pitchFamily="18" charset="0"/>
              </a:rPr>
              <a:t> в строках 8 и 9 также кодируются числами 1, 0 -1, которые являются результатами умножения соответствующих числовых значений (кодов 1, 0 -1) предикторов </a:t>
            </a:r>
            <a:r>
              <a:rPr lang="ru-RU" sz="4000" i="1" dirty="0" smtClean="0">
                <a:latin typeface="Times New Roman" pitchFamily="18" charset="0"/>
                <a:cs typeface="Times New Roman" pitchFamily="18" charset="0"/>
              </a:rPr>
              <a:t>Пол</a:t>
            </a:r>
            <a:r>
              <a:rPr lang="ru-RU" sz="4000" dirty="0" smtClean="0">
                <a:latin typeface="Times New Roman" pitchFamily="18" charset="0"/>
                <a:cs typeface="Times New Roman" pitchFamily="18" charset="0"/>
              </a:rPr>
              <a:t>, </a:t>
            </a:r>
            <a:r>
              <a:rPr lang="ru-RU" sz="4000" i="1" dirty="0" smtClean="0">
                <a:latin typeface="Times New Roman" pitchFamily="18" charset="0"/>
                <a:cs typeface="Times New Roman" pitchFamily="18" charset="0"/>
              </a:rPr>
              <a:t>Профессия.</a:t>
            </a:r>
            <a:r>
              <a:rPr lang="ru-RU" sz="4000" dirty="0" smtClean="0">
                <a:latin typeface="Times New Roman" pitchFamily="18" charset="0"/>
                <a:cs typeface="Times New Roman" pitchFamily="18" charset="0"/>
              </a:rPr>
              <a:t> </a:t>
            </a:r>
          </a:p>
          <a:p>
            <a:pPr marL="0" indent="0" algn="just">
              <a:spcBef>
                <a:spcPts val="0"/>
              </a:spcBef>
              <a:buNone/>
            </a:pPr>
            <a:r>
              <a:rPr lang="ru-RU" sz="4000" dirty="0" smtClean="0">
                <a:latin typeface="Times New Roman" pitchFamily="18" charset="0"/>
                <a:cs typeface="Times New Roman" pitchFamily="18" charset="0"/>
              </a:rPr>
              <a:t>   Так, для </a:t>
            </a:r>
            <a:r>
              <a:rPr lang="ru-RU" sz="4000" i="1" dirty="0" smtClean="0">
                <a:latin typeface="Times New Roman" pitchFamily="18" charset="0"/>
                <a:cs typeface="Times New Roman" pitchFamily="18" charset="0"/>
              </a:rPr>
              <a:t>Пол*Профессия</a:t>
            </a:r>
            <a:r>
              <a:rPr lang="ru-RU" sz="4000" i="1" baseline="-25000" dirty="0" smtClean="0">
                <a:latin typeface="Times New Roman" pitchFamily="18" charset="0"/>
                <a:cs typeface="Times New Roman" pitchFamily="18" charset="0"/>
              </a:rPr>
              <a:t>1</a:t>
            </a:r>
            <a:r>
              <a:rPr lang="ru-RU" sz="4000" dirty="0" smtClean="0">
                <a:latin typeface="Times New Roman" pitchFamily="18" charset="0"/>
                <a:cs typeface="Times New Roman" pitchFamily="18" charset="0"/>
              </a:rPr>
              <a:t> в строке 8 возможны следующие 4 комбинации </a:t>
            </a:r>
            <a:r>
              <a:rPr lang="ru-RU" sz="4000" i="1" dirty="0" smtClean="0">
                <a:latin typeface="Times New Roman" pitchFamily="18" charset="0"/>
                <a:cs typeface="Times New Roman" pitchFamily="18" charset="0"/>
              </a:rPr>
              <a:t>муж.*врач</a:t>
            </a:r>
            <a:r>
              <a:rPr lang="ru-RU" sz="4000" dirty="0" smtClean="0">
                <a:latin typeface="Times New Roman" pitchFamily="18" charset="0"/>
                <a:cs typeface="Times New Roman" pitchFamily="18" charset="0"/>
              </a:rPr>
              <a:t>, </a:t>
            </a:r>
            <a:r>
              <a:rPr lang="ru-RU" sz="4000" i="1" dirty="0" smtClean="0">
                <a:latin typeface="Times New Roman" pitchFamily="18" charset="0"/>
                <a:cs typeface="Times New Roman" pitchFamily="18" charset="0"/>
              </a:rPr>
              <a:t>муж.</a:t>
            </a:r>
            <a:r>
              <a:rPr lang="ru-RU" sz="4000" dirty="0" smtClean="0">
                <a:latin typeface="Times New Roman" pitchFamily="18" charset="0"/>
                <a:cs typeface="Times New Roman" pitchFamily="18" charset="0"/>
              </a:rPr>
              <a:t>*</a:t>
            </a:r>
            <a:r>
              <a:rPr lang="ru-RU" sz="4000" i="1" dirty="0" smtClean="0">
                <a:latin typeface="Times New Roman" pitchFamily="18" charset="0"/>
                <a:cs typeface="Times New Roman" pitchFamily="18" charset="0"/>
              </a:rPr>
              <a:t>педагог</a:t>
            </a:r>
            <a:r>
              <a:rPr lang="ru-RU" sz="4000" dirty="0" smtClean="0">
                <a:latin typeface="Times New Roman" pitchFamily="18" charset="0"/>
                <a:cs typeface="Times New Roman" pitchFamily="18" charset="0"/>
              </a:rPr>
              <a:t>, </a:t>
            </a:r>
            <a:r>
              <a:rPr lang="ru-RU" sz="4000" i="1" dirty="0" smtClean="0">
                <a:latin typeface="Times New Roman" pitchFamily="18" charset="0"/>
                <a:cs typeface="Times New Roman" pitchFamily="18" charset="0"/>
              </a:rPr>
              <a:t>жен.</a:t>
            </a:r>
            <a:r>
              <a:rPr lang="ru-RU" sz="4000" dirty="0" smtClean="0">
                <a:latin typeface="Times New Roman" pitchFamily="18" charset="0"/>
                <a:cs typeface="Times New Roman" pitchFamily="18" charset="0"/>
              </a:rPr>
              <a:t>*</a:t>
            </a:r>
            <a:r>
              <a:rPr lang="ru-RU" sz="4000" i="1" dirty="0" smtClean="0">
                <a:latin typeface="Times New Roman" pitchFamily="18" charset="0"/>
                <a:cs typeface="Times New Roman" pitchFamily="18" charset="0"/>
              </a:rPr>
              <a:t>врач</a:t>
            </a:r>
            <a:r>
              <a:rPr lang="ru-RU" sz="4000" dirty="0" smtClean="0">
                <a:latin typeface="Times New Roman" pitchFamily="18" charset="0"/>
                <a:cs typeface="Times New Roman" pitchFamily="18" charset="0"/>
              </a:rPr>
              <a:t>, </a:t>
            </a:r>
            <a:r>
              <a:rPr lang="ru-RU" sz="4000" i="1" dirty="0" smtClean="0">
                <a:latin typeface="Times New Roman" pitchFamily="18" charset="0"/>
                <a:cs typeface="Times New Roman" pitchFamily="18" charset="0"/>
              </a:rPr>
              <a:t>жен.</a:t>
            </a:r>
            <a:r>
              <a:rPr lang="ru-RU" sz="4000" dirty="0" smtClean="0">
                <a:latin typeface="Times New Roman" pitchFamily="18" charset="0"/>
                <a:cs typeface="Times New Roman" pitchFamily="18" charset="0"/>
              </a:rPr>
              <a:t>*</a:t>
            </a:r>
            <a:r>
              <a:rPr lang="ru-RU" sz="4000" i="1" dirty="0" smtClean="0">
                <a:latin typeface="Times New Roman" pitchFamily="18" charset="0"/>
                <a:cs typeface="Times New Roman" pitchFamily="18" charset="0"/>
              </a:rPr>
              <a:t>педагог</a:t>
            </a:r>
            <a:r>
              <a:rPr lang="ru-RU" sz="4000" dirty="0" smtClean="0">
                <a:latin typeface="Times New Roman" pitchFamily="18" charset="0"/>
                <a:cs typeface="Times New Roman" pitchFamily="18" charset="0"/>
              </a:rPr>
              <a:t>, которые в регрессионных моделях принимают следующие значения: 1·1 =1, 1·(-1) = -1, (-1)·1 = -1, (-1)· (-1) = 1. </a:t>
            </a:r>
          </a:p>
          <a:p>
            <a:pPr marL="0" indent="0" algn="just">
              <a:spcBef>
                <a:spcPts val="0"/>
              </a:spcBef>
              <a:buNone/>
            </a:pPr>
            <a:r>
              <a:rPr lang="ru-RU" sz="4000" dirty="0" smtClean="0">
                <a:latin typeface="Times New Roman" pitchFamily="18" charset="0"/>
                <a:cs typeface="Times New Roman" pitchFamily="18" charset="0"/>
              </a:rPr>
              <a:t>   Для </a:t>
            </a:r>
            <a:r>
              <a:rPr lang="ru-RU" sz="4000" i="1" dirty="0" smtClean="0">
                <a:latin typeface="Times New Roman" pitchFamily="18" charset="0"/>
                <a:cs typeface="Times New Roman" pitchFamily="18" charset="0"/>
              </a:rPr>
              <a:t>Пол*Профессия</a:t>
            </a:r>
            <a:r>
              <a:rPr lang="ru-RU" sz="4000" i="1" baseline="-25000" dirty="0" smtClean="0">
                <a:latin typeface="Times New Roman" pitchFamily="18" charset="0"/>
                <a:cs typeface="Times New Roman" pitchFamily="18" charset="0"/>
              </a:rPr>
              <a:t>2</a:t>
            </a:r>
            <a:r>
              <a:rPr lang="ru-RU" sz="4000" dirty="0" smtClean="0">
                <a:latin typeface="Times New Roman" pitchFamily="18" charset="0"/>
                <a:cs typeface="Times New Roman" pitchFamily="18" charset="0"/>
              </a:rPr>
              <a:t> в строке 9 возможны другие 4 комбинации </a:t>
            </a:r>
            <a:r>
              <a:rPr lang="ru-RU" sz="4000" i="1" dirty="0" smtClean="0">
                <a:latin typeface="Times New Roman" pitchFamily="18" charset="0"/>
                <a:cs typeface="Times New Roman" pitchFamily="18" charset="0"/>
              </a:rPr>
              <a:t>муж.*менеджер</a:t>
            </a:r>
            <a:r>
              <a:rPr lang="ru-RU" sz="4000" dirty="0" smtClean="0">
                <a:latin typeface="Times New Roman" pitchFamily="18" charset="0"/>
                <a:cs typeface="Times New Roman" pitchFamily="18" charset="0"/>
              </a:rPr>
              <a:t>, </a:t>
            </a:r>
            <a:r>
              <a:rPr lang="ru-RU" sz="4000" i="1" dirty="0" smtClean="0">
                <a:latin typeface="Times New Roman" pitchFamily="18" charset="0"/>
                <a:cs typeface="Times New Roman" pitchFamily="18" charset="0"/>
              </a:rPr>
              <a:t>муж.</a:t>
            </a:r>
            <a:r>
              <a:rPr lang="ru-RU" sz="4000" dirty="0" smtClean="0">
                <a:latin typeface="Times New Roman" pitchFamily="18" charset="0"/>
                <a:cs typeface="Times New Roman" pitchFamily="18" charset="0"/>
              </a:rPr>
              <a:t>*</a:t>
            </a:r>
            <a:r>
              <a:rPr lang="ru-RU" sz="4000" i="1" dirty="0" smtClean="0">
                <a:latin typeface="Times New Roman" pitchFamily="18" charset="0"/>
                <a:cs typeface="Times New Roman" pitchFamily="18" charset="0"/>
              </a:rPr>
              <a:t>педагог</a:t>
            </a:r>
            <a:r>
              <a:rPr lang="ru-RU" sz="4000" dirty="0" smtClean="0">
                <a:latin typeface="Times New Roman" pitchFamily="18" charset="0"/>
                <a:cs typeface="Times New Roman" pitchFamily="18" charset="0"/>
              </a:rPr>
              <a:t>, </a:t>
            </a:r>
            <a:r>
              <a:rPr lang="ru-RU" sz="4000" i="1" dirty="0" smtClean="0">
                <a:latin typeface="Times New Roman" pitchFamily="18" charset="0"/>
                <a:cs typeface="Times New Roman" pitchFamily="18" charset="0"/>
              </a:rPr>
              <a:t>жен.</a:t>
            </a:r>
            <a:r>
              <a:rPr lang="ru-RU" sz="4000" dirty="0" smtClean="0">
                <a:latin typeface="Times New Roman" pitchFamily="18" charset="0"/>
                <a:cs typeface="Times New Roman" pitchFamily="18" charset="0"/>
              </a:rPr>
              <a:t>*</a:t>
            </a:r>
            <a:r>
              <a:rPr lang="ru-RU" sz="4000" i="1" dirty="0" smtClean="0">
                <a:latin typeface="Times New Roman" pitchFamily="18" charset="0"/>
                <a:cs typeface="Times New Roman" pitchFamily="18" charset="0"/>
              </a:rPr>
              <a:t>менеджер</a:t>
            </a:r>
            <a:r>
              <a:rPr lang="ru-RU" sz="4000" dirty="0" smtClean="0">
                <a:latin typeface="Times New Roman" pitchFamily="18" charset="0"/>
                <a:cs typeface="Times New Roman" pitchFamily="18" charset="0"/>
              </a:rPr>
              <a:t>, </a:t>
            </a:r>
            <a:r>
              <a:rPr lang="ru-RU" sz="4000" i="1" dirty="0" smtClean="0">
                <a:latin typeface="Times New Roman" pitchFamily="18" charset="0"/>
                <a:cs typeface="Times New Roman" pitchFamily="18" charset="0"/>
              </a:rPr>
              <a:t>жен.</a:t>
            </a:r>
            <a:r>
              <a:rPr lang="ru-RU" sz="4000" dirty="0" smtClean="0">
                <a:latin typeface="Times New Roman" pitchFamily="18" charset="0"/>
                <a:cs typeface="Times New Roman" pitchFamily="18" charset="0"/>
              </a:rPr>
              <a:t>*</a:t>
            </a:r>
            <a:r>
              <a:rPr lang="ru-RU" sz="4000" i="1" dirty="0" smtClean="0">
                <a:latin typeface="Times New Roman" pitchFamily="18" charset="0"/>
                <a:cs typeface="Times New Roman" pitchFamily="18" charset="0"/>
              </a:rPr>
              <a:t>педагог</a:t>
            </a:r>
            <a:r>
              <a:rPr lang="ru-RU" sz="4000" dirty="0" smtClean="0">
                <a:latin typeface="Times New Roman" pitchFamily="18" charset="0"/>
                <a:cs typeface="Times New Roman" pitchFamily="18" charset="0"/>
              </a:rPr>
              <a:t>, которые принимают следующие значения: 1·1 =1, 1·(-1) = -1, (-1) ·1 = -1, (-1) ·(-1)   = 1. </a:t>
            </a:r>
          </a:p>
          <a:p>
            <a:pPr marL="0" indent="0" algn="just">
              <a:spcBef>
                <a:spcPts val="0"/>
              </a:spcBef>
              <a:buNone/>
            </a:pPr>
            <a:r>
              <a:rPr lang="ru-RU" sz="4000" dirty="0" smtClean="0">
                <a:latin typeface="Times New Roman" pitchFamily="18" charset="0"/>
                <a:cs typeface="Times New Roman" pitchFamily="18" charset="0"/>
              </a:rPr>
              <a:t>   Если нажать на кнопку </a:t>
            </a:r>
            <a:r>
              <a:rPr lang="ru-RU" sz="4000" i="1" dirty="0" smtClean="0">
                <a:latin typeface="Times New Roman" pitchFamily="18" charset="0"/>
                <a:cs typeface="Times New Roman" pitchFamily="18" charset="0"/>
              </a:rPr>
              <a:t>Коэффициенты</a:t>
            </a:r>
            <a:r>
              <a:rPr lang="ru-RU" sz="4000" dirty="0" smtClean="0">
                <a:latin typeface="Times New Roman" pitchFamily="18" charset="0"/>
                <a:cs typeface="Times New Roman" pitchFamily="18" charset="0"/>
              </a:rPr>
              <a:t>, то откроется таблица </a:t>
            </a:r>
            <a:r>
              <a:rPr lang="ru-RU" sz="4000" i="1" dirty="0" smtClean="0">
                <a:latin typeface="Times New Roman" pitchFamily="18" charset="0"/>
                <a:cs typeface="Times New Roman" pitchFamily="18" charset="0"/>
              </a:rPr>
              <a:t>Оценки параметров</a:t>
            </a:r>
            <a:r>
              <a:rPr lang="ru-RU" sz="4000" dirty="0" smtClean="0">
                <a:latin typeface="Times New Roman" pitchFamily="18" charset="0"/>
                <a:cs typeface="Times New Roman" pitchFamily="18" charset="0"/>
              </a:rPr>
              <a:t> (рис.10), в третьем столбце которой (</a:t>
            </a:r>
            <a:r>
              <a:rPr lang="en-US" sz="4000" i="1" dirty="0" smtClean="0">
                <a:latin typeface="Times New Roman" pitchFamily="18" charset="0"/>
                <a:cs typeface="Times New Roman" pitchFamily="18" charset="0"/>
              </a:rPr>
              <a:t>SLAT </a:t>
            </a:r>
            <a:r>
              <a:rPr lang="ru-RU" sz="4000" i="1" dirty="0" smtClean="0">
                <a:latin typeface="Times New Roman" pitchFamily="18" charset="0"/>
                <a:cs typeface="Times New Roman" pitchFamily="18" charset="0"/>
              </a:rPr>
              <a:t>Парам.</a:t>
            </a:r>
            <a:r>
              <a:rPr lang="ru-RU" sz="4000" dirty="0" smtClean="0">
                <a:latin typeface="Times New Roman" pitchFamily="18" charset="0"/>
                <a:cs typeface="Times New Roman" pitchFamily="18" charset="0"/>
              </a:rPr>
              <a:t>) отображены коэффициенты регрессионного уравнения. В столбце </a:t>
            </a:r>
            <a:r>
              <a:rPr lang="ru-RU" sz="4000" i="1" dirty="0" smtClean="0">
                <a:latin typeface="Times New Roman" pitchFamily="18" charset="0"/>
                <a:cs typeface="Times New Roman" pitchFamily="18" charset="0"/>
              </a:rPr>
              <a:t>Уровень Эффект</a:t>
            </a:r>
            <a:r>
              <a:rPr lang="ru-RU" sz="4000" dirty="0" smtClean="0">
                <a:latin typeface="Times New Roman" pitchFamily="18" charset="0"/>
                <a:cs typeface="Times New Roman" pitchFamily="18" charset="0"/>
              </a:rPr>
              <a:t> приведены уровни эффектов </a:t>
            </a:r>
            <a:r>
              <a:rPr lang="ru-RU" sz="4000" i="1" dirty="0" smtClean="0">
                <a:latin typeface="Times New Roman" pitchFamily="18" charset="0"/>
                <a:cs typeface="Times New Roman" pitchFamily="18" charset="0"/>
              </a:rPr>
              <a:t>муж., врач, менеджер</a:t>
            </a:r>
            <a:r>
              <a:rPr lang="ru-RU" sz="4000" dirty="0" smtClean="0">
                <a:latin typeface="Times New Roman" pitchFamily="18" charset="0"/>
                <a:cs typeface="Times New Roman" pitchFamily="18" charset="0"/>
              </a:rPr>
              <a:t>, которые кодируются программой как 1. В четвертом столбце таблицы приведены стандартные ошибки параметров, которые определяются как стандартное отклонение параметра, деленное на объем выборки. Стандартные ошибки характеризуют точность вычисления параметров. Для всех эффектов, за исключением свободного члена, стандартные ошибки значительно меньше оцениваемых параметров. В столбцах 3 и 5 отображены коэффициенты общей линейной модели по исходным и стандартизованным данным. По значениям столбца 5 можно судить о вкладе предикторов в модель. В столбцах 6 и 7 приведены значения </a:t>
            </a:r>
            <a:r>
              <a:rPr lang="en-US" sz="4000" i="1" dirty="0" smtClean="0">
                <a:latin typeface="Times New Roman" pitchFamily="18" charset="0"/>
                <a:cs typeface="Times New Roman" pitchFamily="18" charset="0"/>
              </a:rPr>
              <a:t>t</a:t>
            </a:r>
            <a:r>
              <a:rPr lang="ru-RU" sz="4000" i="1" dirty="0" smtClean="0">
                <a:latin typeface="Times New Roman" pitchFamily="18" charset="0"/>
                <a:cs typeface="Times New Roman" pitchFamily="18" charset="0"/>
              </a:rPr>
              <a:t>-критерия</a:t>
            </a:r>
            <a:r>
              <a:rPr lang="ru-RU" sz="4000" dirty="0" smtClean="0">
                <a:latin typeface="Times New Roman" pitchFamily="18" charset="0"/>
                <a:cs typeface="Times New Roman" pitchFamily="18" charset="0"/>
              </a:rPr>
              <a:t> (</a:t>
            </a:r>
            <a:r>
              <a:rPr lang="ru-RU" sz="4000" dirty="0" err="1" smtClean="0">
                <a:latin typeface="Times New Roman" pitchFamily="18" charset="0"/>
                <a:cs typeface="Times New Roman" pitchFamily="18" charset="0"/>
              </a:rPr>
              <a:t>критерия</a:t>
            </a:r>
            <a:r>
              <a:rPr lang="ru-RU" sz="4000" dirty="0" smtClean="0">
                <a:latin typeface="Times New Roman" pitchFamily="18" charset="0"/>
                <a:cs typeface="Times New Roman" pitchFamily="18" charset="0"/>
              </a:rPr>
              <a:t> Стьюдента) и соответствующие им уровни значимости </a:t>
            </a:r>
            <a:r>
              <a:rPr lang="ru-RU" sz="4000" i="1" dirty="0" smtClean="0">
                <a:latin typeface="Times New Roman" pitchFamily="18" charset="0"/>
                <a:cs typeface="Times New Roman" pitchFamily="18" charset="0"/>
              </a:rPr>
              <a:t>р</a:t>
            </a:r>
            <a:r>
              <a:rPr lang="ru-RU" sz="4000" dirty="0" smtClean="0">
                <a:latin typeface="Times New Roman" pitchFamily="18" charset="0"/>
                <a:cs typeface="Times New Roman" pitchFamily="18" charset="0"/>
              </a:rPr>
              <a:t> для оценки значимости коэффициентов регрессионного уравнения. Так как  </a:t>
            </a:r>
            <a:r>
              <a:rPr lang="ru-RU" sz="4000" i="1" dirty="0" smtClean="0">
                <a:latin typeface="Times New Roman" pitchFamily="18" charset="0"/>
                <a:cs typeface="Times New Roman" pitchFamily="18" charset="0"/>
              </a:rPr>
              <a:t>р</a:t>
            </a:r>
            <a:r>
              <a:rPr lang="ru-RU" sz="4000" dirty="0" smtClean="0">
                <a:latin typeface="Times New Roman" pitchFamily="18" charset="0"/>
                <a:cs typeface="Times New Roman" pitchFamily="18" charset="0"/>
              </a:rPr>
              <a:t> эффектов </a:t>
            </a:r>
            <a:r>
              <a:rPr lang="ru-RU" sz="4000" i="1" dirty="0" smtClean="0">
                <a:latin typeface="Times New Roman" pitchFamily="18" charset="0"/>
                <a:cs typeface="Times New Roman" pitchFamily="18" charset="0"/>
              </a:rPr>
              <a:t>Св. член и Длит. набл. </a:t>
            </a:r>
            <a:r>
              <a:rPr lang="ru-RU" sz="4000" dirty="0" smtClean="0">
                <a:latin typeface="Times New Roman" pitchFamily="18" charset="0"/>
                <a:cs typeface="Times New Roman" pitchFamily="18" charset="0"/>
              </a:rPr>
              <a:t>больше, чем 0,05, то соответствующие им параметры статистически не значимы и из общей линейной модели могут быть удалены.</a:t>
            </a:r>
          </a:p>
          <a:p>
            <a:pPr marL="0" indent="0" algn="just">
              <a:spcBef>
                <a:spcPts val="0"/>
              </a:spcBef>
              <a:buNone/>
            </a:pPr>
            <a:endParaRPr lang="ru-R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cstate="print"/>
          <a:srcRect/>
          <a:stretch>
            <a:fillRect/>
          </a:stretch>
        </p:blipFill>
        <p:spPr bwMode="auto">
          <a:xfrm>
            <a:off x="395536" y="260648"/>
            <a:ext cx="8405907" cy="5938818"/>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cstate="print"/>
          <a:srcRect/>
          <a:stretch>
            <a:fillRect/>
          </a:stretch>
        </p:blipFill>
        <p:spPr bwMode="auto">
          <a:xfrm>
            <a:off x="1187624" y="188640"/>
            <a:ext cx="7255782" cy="6491432"/>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Grp="1" noChangeAspect="1" noChangeArrowheads="1"/>
          </p:cNvPicPr>
          <p:nvPr>
            <p:ph idx="1"/>
          </p:nvPr>
        </p:nvPicPr>
        <p:blipFill>
          <a:blip r:embed="rId2" cstate="print"/>
          <a:srcRect/>
          <a:stretch>
            <a:fillRect/>
          </a:stretch>
        </p:blipFill>
        <p:spPr bwMode="auto">
          <a:xfrm>
            <a:off x="841823" y="404664"/>
            <a:ext cx="7628503" cy="535875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cstate="print"/>
          <a:srcRect/>
          <a:stretch>
            <a:fillRect/>
          </a:stretch>
        </p:blipFill>
        <p:spPr bwMode="auto">
          <a:xfrm>
            <a:off x="1340415" y="188640"/>
            <a:ext cx="6866434" cy="666936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cstate="print"/>
          <a:srcRect/>
          <a:stretch>
            <a:fillRect/>
          </a:stretch>
        </p:blipFill>
        <p:spPr bwMode="auto">
          <a:xfrm>
            <a:off x="919357" y="125008"/>
            <a:ext cx="7613084" cy="6581784"/>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Grp="1" noChangeAspect="1" noChangeArrowheads="1"/>
          </p:cNvPicPr>
          <p:nvPr>
            <p:ph idx="1"/>
          </p:nvPr>
        </p:nvPicPr>
        <p:blipFill>
          <a:blip r:embed="rId2" cstate="print"/>
          <a:srcRect/>
          <a:stretch>
            <a:fillRect/>
          </a:stretch>
        </p:blipFill>
        <p:spPr bwMode="auto">
          <a:xfrm>
            <a:off x="2324108" y="255998"/>
            <a:ext cx="4912187" cy="645705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Grp="1" noChangeAspect="1" noChangeArrowheads="1"/>
          </p:cNvPicPr>
          <p:nvPr>
            <p:ph idx="1"/>
          </p:nvPr>
        </p:nvPicPr>
        <p:blipFill>
          <a:blip r:embed="rId2" cstate="print"/>
          <a:srcRect/>
          <a:stretch>
            <a:fillRect/>
          </a:stretch>
        </p:blipFill>
        <p:spPr bwMode="auto">
          <a:xfrm>
            <a:off x="2297901" y="-1"/>
            <a:ext cx="4578355" cy="6754207"/>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188640"/>
            <a:ext cx="8964488" cy="6480720"/>
          </a:xfrm>
        </p:spPr>
        <p:txBody>
          <a:bodyPr>
            <a:noAutofit/>
          </a:bodyPr>
          <a:lstStyle/>
          <a:p>
            <a:pPr marL="0" indent="0" algn="just">
              <a:spcBef>
                <a:spcPts val="0"/>
              </a:spcBef>
              <a:buNone/>
            </a:pPr>
            <a:r>
              <a:rPr lang="ru-RU" sz="1800" dirty="0" smtClean="0">
                <a:latin typeface="Times New Roman" pitchFamily="18" charset="0"/>
                <a:cs typeface="Times New Roman" pitchFamily="18" charset="0"/>
              </a:rPr>
              <a:t>    В </a:t>
            </a:r>
            <a:r>
              <a:rPr lang="ru-RU" sz="1800" dirty="0">
                <a:latin typeface="Times New Roman" pitchFamily="18" charset="0"/>
                <a:cs typeface="Times New Roman" pitchFamily="18" charset="0"/>
              </a:rPr>
              <a:t>соответствии с параметрами общей линейной модели (коэффициентами регрессии, рис.10) легко выписать уравнение регрессии:</a:t>
            </a:r>
          </a:p>
          <a:p>
            <a:pPr marL="0" indent="0" algn="just">
              <a:spcBef>
                <a:spcPts val="0"/>
              </a:spcBef>
              <a:buNone/>
            </a:pPr>
            <a:r>
              <a:rPr lang="ru-RU" sz="1800" dirty="0">
                <a:latin typeface="Times New Roman" pitchFamily="18" charset="0"/>
                <a:cs typeface="Times New Roman" pitchFamily="18" charset="0"/>
              </a:rPr>
              <a:t> </a:t>
            </a:r>
            <a:r>
              <a:rPr lang="ru-RU" sz="1800" i="1" dirty="0" smtClean="0">
                <a:latin typeface="Times New Roman" pitchFamily="18" charset="0"/>
                <a:cs typeface="Times New Roman" pitchFamily="18" charset="0"/>
              </a:rPr>
              <a:t>SLAT</a:t>
            </a:r>
            <a:r>
              <a:rPr lang="ru-RU" sz="1800" dirty="0">
                <a:latin typeface="Times New Roman" pitchFamily="18" charset="0"/>
                <a:cs typeface="Times New Roman" pitchFamily="18" charset="0"/>
              </a:rPr>
              <a:t>= 2,504 + 0,127</a:t>
            </a:r>
            <a:r>
              <a:rPr lang="ru-RU" sz="1800" i="1" dirty="0">
                <a:latin typeface="Times New Roman" pitchFamily="18" charset="0"/>
                <a:cs typeface="Times New Roman" pitchFamily="18" charset="0"/>
              </a:rPr>
              <a:t>Возраст</a:t>
            </a:r>
            <a:r>
              <a:rPr lang="ru-RU" sz="1800" dirty="0">
                <a:latin typeface="Times New Roman" pitchFamily="18" charset="0"/>
                <a:cs typeface="Times New Roman" pitchFamily="18" charset="0"/>
              </a:rPr>
              <a:t> – 0,001</a:t>
            </a:r>
            <a:r>
              <a:rPr lang="ru-RU" sz="1800" i="1" dirty="0">
                <a:latin typeface="Times New Roman" pitchFamily="18" charset="0"/>
                <a:cs typeface="Times New Roman" pitchFamily="18" charset="0"/>
              </a:rPr>
              <a:t>Длит. </a:t>
            </a:r>
            <a:r>
              <a:rPr lang="ru-RU" sz="1800" i="1" dirty="0" err="1">
                <a:latin typeface="Times New Roman" pitchFamily="18" charset="0"/>
                <a:cs typeface="Times New Roman" pitchFamily="18" charset="0"/>
              </a:rPr>
              <a:t>набл.</a:t>
            </a:r>
            <a:r>
              <a:rPr lang="ru-RU" sz="1800" dirty="0" err="1">
                <a:latin typeface="Times New Roman" pitchFamily="18" charset="0"/>
                <a:cs typeface="Times New Roman" pitchFamily="18" charset="0"/>
              </a:rPr>
              <a:t>+</a:t>
            </a:r>
            <a:r>
              <a:rPr lang="ru-RU" sz="1800" dirty="0">
                <a:latin typeface="Times New Roman" pitchFamily="18" charset="0"/>
                <a:cs typeface="Times New Roman" pitchFamily="18" charset="0"/>
              </a:rPr>
              <a:t> 0,250</a:t>
            </a:r>
            <a:r>
              <a:rPr lang="ru-RU" sz="1800" i="1" dirty="0">
                <a:latin typeface="Times New Roman" pitchFamily="18" charset="0"/>
                <a:cs typeface="Times New Roman" pitchFamily="18" charset="0"/>
              </a:rPr>
              <a:t>SLBT</a:t>
            </a:r>
            <a:r>
              <a:rPr lang="ru-RU" sz="1800" dirty="0">
                <a:latin typeface="Times New Roman" pitchFamily="18" charset="0"/>
                <a:cs typeface="Times New Roman" pitchFamily="18" charset="0"/>
              </a:rPr>
              <a:t> – 1,856</a:t>
            </a:r>
            <a:r>
              <a:rPr lang="ru-RU" sz="1800" i="1" dirty="0">
                <a:latin typeface="Times New Roman" pitchFamily="18" charset="0"/>
                <a:cs typeface="Times New Roman" pitchFamily="18" charset="0"/>
              </a:rPr>
              <a:t>Пол</a:t>
            </a:r>
            <a:r>
              <a:rPr lang="ru-RU" sz="1800" dirty="0">
                <a:latin typeface="Times New Roman" pitchFamily="18" charset="0"/>
                <a:cs typeface="Times New Roman" pitchFamily="18" charset="0"/>
              </a:rPr>
              <a:t> (</a:t>
            </a:r>
            <a:r>
              <a:rPr lang="ru-RU" sz="1800" i="1" dirty="0">
                <a:latin typeface="Times New Roman" pitchFamily="18" charset="0"/>
                <a:cs typeface="Times New Roman" pitchFamily="18" charset="0"/>
              </a:rPr>
              <a:t>муж.</a:t>
            </a:r>
            <a:r>
              <a:rPr lang="ru-RU" sz="1800" dirty="0">
                <a:latin typeface="Times New Roman" pitchFamily="18" charset="0"/>
                <a:cs typeface="Times New Roman" pitchFamily="18" charset="0"/>
              </a:rPr>
              <a:t>) – 5,351</a:t>
            </a:r>
            <a:r>
              <a:rPr lang="ru-RU" sz="1800" i="1" dirty="0">
                <a:latin typeface="Times New Roman" pitchFamily="18" charset="0"/>
                <a:cs typeface="Times New Roman" pitchFamily="18" charset="0"/>
              </a:rPr>
              <a:t>Профессия</a:t>
            </a:r>
            <a:r>
              <a:rPr lang="ru-RU" sz="1800" i="1" baseline="-25000" dirty="0">
                <a:latin typeface="Times New Roman" pitchFamily="18" charset="0"/>
                <a:cs typeface="Times New Roman" pitchFamily="18" charset="0"/>
              </a:rPr>
              <a:t>1</a:t>
            </a:r>
            <a:r>
              <a:rPr lang="ru-RU" sz="1800" i="1" dirty="0">
                <a:latin typeface="Times New Roman" pitchFamily="18" charset="0"/>
                <a:cs typeface="Times New Roman" pitchFamily="18" charset="0"/>
              </a:rPr>
              <a:t> </a:t>
            </a:r>
            <a:r>
              <a:rPr lang="ru-RU" sz="1800" dirty="0">
                <a:latin typeface="Times New Roman" pitchFamily="18" charset="0"/>
                <a:cs typeface="Times New Roman" pitchFamily="18" charset="0"/>
              </a:rPr>
              <a:t>(</a:t>
            </a:r>
            <a:r>
              <a:rPr lang="ru-RU" sz="1800" i="1" dirty="0">
                <a:latin typeface="Times New Roman" pitchFamily="18" charset="0"/>
                <a:cs typeface="Times New Roman" pitchFamily="18" charset="0"/>
              </a:rPr>
              <a:t>врач</a:t>
            </a:r>
            <a:r>
              <a:rPr lang="ru-RU" sz="1800" dirty="0">
                <a:latin typeface="Times New Roman" pitchFamily="18" charset="0"/>
                <a:cs typeface="Times New Roman" pitchFamily="18" charset="0"/>
              </a:rPr>
              <a:t>) – 4,308</a:t>
            </a:r>
            <a:r>
              <a:rPr lang="ru-RU" sz="1800" i="1" dirty="0">
                <a:latin typeface="Times New Roman" pitchFamily="18" charset="0"/>
                <a:cs typeface="Times New Roman" pitchFamily="18" charset="0"/>
              </a:rPr>
              <a:t>Профессия</a:t>
            </a:r>
            <a:r>
              <a:rPr lang="ru-RU" sz="1800" baseline="-25000" dirty="0">
                <a:latin typeface="Times New Roman" pitchFamily="18" charset="0"/>
                <a:cs typeface="Times New Roman" pitchFamily="18" charset="0"/>
              </a:rPr>
              <a:t>2</a:t>
            </a:r>
            <a:r>
              <a:rPr lang="ru-RU" sz="1800" dirty="0">
                <a:latin typeface="Times New Roman" pitchFamily="18" charset="0"/>
                <a:cs typeface="Times New Roman" pitchFamily="18" charset="0"/>
              </a:rPr>
              <a:t>  (</a:t>
            </a:r>
            <a:r>
              <a:rPr lang="ru-RU" sz="1800" i="1" dirty="0">
                <a:latin typeface="Times New Roman" pitchFamily="18" charset="0"/>
                <a:cs typeface="Times New Roman" pitchFamily="18" charset="0"/>
              </a:rPr>
              <a:t>менеджер</a:t>
            </a:r>
            <a:r>
              <a:rPr lang="ru-RU" sz="1800" dirty="0">
                <a:latin typeface="Times New Roman" pitchFamily="18" charset="0"/>
                <a:cs typeface="Times New Roman" pitchFamily="18" charset="0"/>
              </a:rPr>
              <a:t>) + 3,286 </a:t>
            </a:r>
            <a:r>
              <a:rPr lang="ru-RU" sz="1800" i="1" dirty="0">
                <a:latin typeface="Times New Roman" pitchFamily="18" charset="0"/>
                <a:cs typeface="Times New Roman" pitchFamily="18" charset="0"/>
              </a:rPr>
              <a:t>Пол</a:t>
            </a:r>
            <a:r>
              <a:rPr lang="ru-RU" sz="1800" dirty="0">
                <a:latin typeface="Times New Roman" pitchFamily="18" charset="0"/>
                <a:cs typeface="Times New Roman" pitchFamily="18" charset="0"/>
              </a:rPr>
              <a:t>*</a:t>
            </a:r>
            <a:r>
              <a:rPr lang="ru-RU" sz="1800" i="1" dirty="0">
                <a:latin typeface="Times New Roman" pitchFamily="18" charset="0"/>
                <a:cs typeface="Times New Roman" pitchFamily="18" charset="0"/>
              </a:rPr>
              <a:t>Профессия</a:t>
            </a:r>
            <a:r>
              <a:rPr lang="ru-RU" sz="1800" baseline="-25000" dirty="0">
                <a:latin typeface="Times New Roman" pitchFamily="18" charset="0"/>
                <a:cs typeface="Times New Roman" pitchFamily="18" charset="0"/>
              </a:rPr>
              <a:t>1</a:t>
            </a:r>
            <a:r>
              <a:rPr lang="ru-RU" sz="1800" dirty="0">
                <a:latin typeface="Times New Roman" pitchFamily="18" charset="0"/>
                <a:cs typeface="Times New Roman" pitchFamily="18" charset="0"/>
              </a:rPr>
              <a:t> + 4,343Пол*</a:t>
            </a:r>
            <a:r>
              <a:rPr lang="ru-RU" sz="1800" i="1" dirty="0">
                <a:latin typeface="Times New Roman" pitchFamily="18" charset="0"/>
                <a:cs typeface="Times New Roman" pitchFamily="18" charset="0"/>
              </a:rPr>
              <a:t>Профессия</a:t>
            </a:r>
            <a:r>
              <a:rPr lang="ru-RU" sz="1800" baseline="-25000" dirty="0">
                <a:latin typeface="Times New Roman" pitchFamily="18" charset="0"/>
                <a:cs typeface="Times New Roman" pitchFamily="18" charset="0"/>
              </a:rPr>
              <a:t>2</a:t>
            </a:r>
            <a:endParaRPr lang="ru-RU" sz="1800" dirty="0">
              <a:latin typeface="Times New Roman" pitchFamily="18" charset="0"/>
              <a:cs typeface="Times New Roman" pitchFamily="18" charset="0"/>
            </a:endParaRPr>
          </a:p>
          <a:p>
            <a:pPr marL="0" indent="0" algn="just">
              <a:spcBef>
                <a:spcPts val="0"/>
              </a:spcBef>
              <a:buNone/>
            </a:pPr>
            <a:r>
              <a:rPr lang="ru-RU" sz="1800" dirty="0">
                <a:latin typeface="Times New Roman" pitchFamily="18" charset="0"/>
                <a:cs typeface="Times New Roman" pitchFamily="18" charset="0"/>
              </a:rPr>
              <a:t> </a:t>
            </a:r>
            <a:r>
              <a:rPr lang="ru-RU" sz="1800" dirty="0" smtClean="0">
                <a:latin typeface="Times New Roman" pitchFamily="18" charset="0"/>
                <a:cs typeface="Times New Roman" pitchFamily="18" charset="0"/>
              </a:rPr>
              <a:t> </a:t>
            </a:r>
          </a:p>
          <a:p>
            <a:pPr marL="0" indent="0" algn="just">
              <a:spcBef>
                <a:spcPts val="0"/>
              </a:spcBef>
              <a:buNone/>
            </a:pPr>
            <a:r>
              <a:rPr lang="ru-RU" sz="1800" dirty="0">
                <a:latin typeface="Times New Roman" pitchFamily="18" charset="0"/>
                <a:cs typeface="Times New Roman" pitchFamily="18" charset="0"/>
              </a:rPr>
              <a:t> </a:t>
            </a:r>
            <a:r>
              <a:rPr lang="ru-RU" sz="1800" dirty="0" smtClean="0">
                <a:latin typeface="Times New Roman" pitchFamily="18" charset="0"/>
                <a:cs typeface="Times New Roman" pitchFamily="18" charset="0"/>
              </a:rPr>
              <a:t>  Так </a:t>
            </a:r>
            <a:r>
              <a:rPr lang="ru-RU" sz="1800" dirty="0">
                <a:latin typeface="Times New Roman" pitchFamily="18" charset="0"/>
                <a:cs typeface="Times New Roman" pitchFamily="18" charset="0"/>
              </a:rPr>
              <a:t>как количество предикторов не велико, то можно воспользоваться общей линейной моделью для прогнозирования состояния человека по шкале Бека после терапии. </a:t>
            </a:r>
            <a:r>
              <a:rPr lang="ru-RU" sz="1800" dirty="0" smtClean="0">
                <a:latin typeface="Times New Roman" pitchFamily="18" charset="0"/>
                <a:cs typeface="Times New Roman" pitchFamily="18" charset="0"/>
              </a:rPr>
              <a:t>          Применим </a:t>
            </a:r>
            <a:r>
              <a:rPr lang="ru-RU" sz="1800" dirty="0">
                <a:latin typeface="Times New Roman" pitchFamily="18" charset="0"/>
                <a:cs typeface="Times New Roman" pitchFamily="18" charset="0"/>
              </a:rPr>
              <a:t>ручной счет при помощи обычного калькулятора. Для этого надо в уравнение подставить  значения предикторов и произвести несложные арифметические действия. </a:t>
            </a:r>
            <a:r>
              <a:rPr lang="ru-RU" sz="1800" dirty="0" smtClean="0">
                <a:latin typeface="Times New Roman" pitchFamily="18" charset="0"/>
                <a:cs typeface="Times New Roman" pitchFamily="18" charset="0"/>
              </a:rPr>
              <a:t>Вычислим</a:t>
            </a:r>
            <a:r>
              <a:rPr lang="ru-RU" sz="1800" dirty="0">
                <a:latin typeface="Times New Roman" pitchFamily="18" charset="0"/>
                <a:cs typeface="Times New Roman" pitchFamily="18" charset="0"/>
              </a:rPr>
              <a:t>, например прогнозное значение отклика </a:t>
            </a:r>
            <a:r>
              <a:rPr lang="ru-RU" sz="1800" i="1" dirty="0">
                <a:latin typeface="Times New Roman" pitchFamily="18" charset="0"/>
                <a:cs typeface="Times New Roman" pitchFamily="18" charset="0"/>
              </a:rPr>
              <a:t>SLAT </a:t>
            </a:r>
            <a:r>
              <a:rPr lang="ru-RU" sz="1800" dirty="0">
                <a:latin typeface="Times New Roman" pitchFamily="18" charset="0"/>
                <a:cs typeface="Times New Roman" pitchFamily="18" charset="0"/>
              </a:rPr>
              <a:t>для М. (№ 2, см. рис.1), если возраст 41 год, </a:t>
            </a:r>
            <a:r>
              <a:rPr lang="ru-RU" sz="1800" dirty="0" smtClean="0">
                <a:latin typeface="Times New Roman" pitchFamily="18" charset="0"/>
                <a:cs typeface="Times New Roman" pitchFamily="18" charset="0"/>
              </a:rPr>
              <a:t>мужчина, </a:t>
            </a:r>
            <a:r>
              <a:rPr lang="ru-RU" sz="1800" dirty="0">
                <a:latin typeface="Times New Roman" pitchFamily="18" charset="0"/>
                <a:cs typeface="Times New Roman" pitchFamily="18" charset="0"/>
              </a:rPr>
              <a:t>менеджер, длительность наблюдения 730 дней, показатель тревоги </a:t>
            </a:r>
            <a:r>
              <a:rPr lang="ru-RU" sz="1800" i="1" dirty="0">
                <a:latin typeface="Times New Roman" pitchFamily="18" charset="0"/>
                <a:cs typeface="Times New Roman" pitchFamily="18" charset="0"/>
              </a:rPr>
              <a:t>SLBT</a:t>
            </a:r>
            <a:r>
              <a:rPr lang="ru-RU" sz="1800" dirty="0">
                <a:latin typeface="Times New Roman" pitchFamily="18" charset="0"/>
                <a:cs typeface="Times New Roman" pitchFamily="18" charset="0"/>
              </a:rPr>
              <a:t> = 19.  Подставим данные в уравнение, получим</a:t>
            </a:r>
            <a:r>
              <a:rPr lang="ru-RU" sz="1800" dirty="0" smtClean="0">
                <a:latin typeface="Times New Roman" pitchFamily="18" charset="0"/>
                <a:cs typeface="Times New Roman" pitchFamily="18" charset="0"/>
              </a:rPr>
              <a:t>:</a:t>
            </a:r>
          </a:p>
          <a:p>
            <a:pPr marL="0" indent="0" algn="just">
              <a:spcBef>
                <a:spcPts val="0"/>
              </a:spcBef>
              <a:buNone/>
            </a:pPr>
            <a:endParaRPr lang="ru-RU" sz="1800" dirty="0">
              <a:latin typeface="Times New Roman" pitchFamily="18" charset="0"/>
              <a:cs typeface="Times New Roman" pitchFamily="18" charset="0"/>
            </a:endParaRPr>
          </a:p>
          <a:p>
            <a:pPr marL="0" indent="0" algn="just">
              <a:spcBef>
                <a:spcPts val="0"/>
              </a:spcBef>
              <a:buNone/>
            </a:pPr>
            <a:r>
              <a:rPr lang="ru-RU" sz="1800" dirty="0">
                <a:latin typeface="Times New Roman" pitchFamily="18" charset="0"/>
                <a:cs typeface="Times New Roman" pitchFamily="18" charset="0"/>
              </a:rPr>
              <a:t> </a:t>
            </a:r>
            <a:r>
              <a:rPr lang="ru-RU" sz="1800" i="1" dirty="0" smtClean="0">
                <a:latin typeface="Times New Roman" pitchFamily="18" charset="0"/>
                <a:cs typeface="Times New Roman" pitchFamily="18" charset="0"/>
              </a:rPr>
              <a:t>SLAT</a:t>
            </a:r>
            <a:r>
              <a:rPr lang="ru-RU" sz="1800" dirty="0">
                <a:latin typeface="Times New Roman" pitchFamily="18" charset="0"/>
                <a:cs typeface="Times New Roman" pitchFamily="18" charset="0"/>
              </a:rPr>
              <a:t>= 2,50477 + </a:t>
            </a:r>
            <a:r>
              <a:rPr lang="ru-RU" sz="1800" dirty="0" smtClean="0">
                <a:latin typeface="Times New Roman" pitchFamily="18" charset="0"/>
                <a:cs typeface="Times New Roman" pitchFamily="18" charset="0"/>
              </a:rPr>
              <a:t>0,12713·41 </a:t>
            </a:r>
            <a:r>
              <a:rPr lang="ru-RU" sz="1800" dirty="0">
                <a:latin typeface="Times New Roman" pitchFamily="18" charset="0"/>
                <a:cs typeface="Times New Roman" pitchFamily="18" charset="0"/>
              </a:rPr>
              <a:t>– 0,00137·730 + 0 ,25056·19 – 1,85635·1 – 5,3517·0  – 4,30874·1   – 3,28648·0 + 4,34371 = </a:t>
            </a:r>
            <a:r>
              <a:rPr lang="ru-RU" sz="1800" dirty="0" smtClean="0">
                <a:latin typeface="Times New Roman" pitchFamily="18" charset="0"/>
                <a:cs typeface="Times New Roman" pitchFamily="18" charset="0"/>
              </a:rPr>
              <a:t>9,65625</a:t>
            </a:r>
          </a:p>
          <a:p>
            <a:pPr marL="0" indent="0" algn="just">
              <a:spcBef>
                <a:spcPts val="0"/>
              </a:spcBef>
              <a:buNone/>
            </a:pPr>
            <a:endParaRPr lang="ru-RU" sz="1800" dirty="0">
              <a:latin typeface="Times New Roman" pitchFamily="18" charset="0"/>
              <a:cs typeface="Times New Roman" pitchFamily="18" charset="0"/>
            </a:endParaRPr>
          </a:p>
          <a:p>
            <a:pPr marL="0" indent="0" algn="just">
              <a:spcBef>
                <a:spcPts val="0"/>
              </a:spcBef>
              <a:buNone/>
            </a:pPr>
            <a:r>
              <a:rPr lang="ru-RU" sz="1800" dirty="0">
                <a:latin typeface="Times New Roman" pitchFamily="18" charset="0"/>
                <a:cs typeface="Times New Roman" pitchFamily="18" charset="0"/>
              </a:rPr>
              <a:t> </a:t>
            </a:r>
            <a:r>
              <a:rPr lang="ru-RU" sz="1800" dirty="0" smtClean="0">
                <a:latin typeface="Times New Roman" pitchFamily="18" charset="0"/>
                <a:cs typeface="Times New Roman" pitchFamily="18" charset="0"/>
              </a:rPr>
              <a:t>   Это </a:t>
            </a:r>
            <a:r>
              <a:rPr lang="ru-RU" sz="1800" dirty="0">
                <a:latin typeface="Times New Roman" pitchFamily="18" charset="0"/>
                <a:cs typeface="Times New Roman" pitchFamily="18" charset="0"/>
              </a:rPr>
              <a:t>означает, что прогнозируемое состояние после терапии составит 9,65625 баллов. </a:t>
            </a:r>
          </a:p>
          <a:p>
            <a:pPr marL="0" indent="0" algn="just">
              <a:spcBef>
                <a:spcPts val="0"/>
              </a:spcBef>
              <a:buNone/>
            </a:pPr>
            <a:r>
              <a:rPr lang="ru-RU" sz="1800" dirty="0" smtClean="0">
                <a:latin typeface="Times New Roman" pitchFamily="18" charset="0"/>
                <a:cs typeface="Times New Roman" pitchFamily="18" charset="0"/>
              </a:rPr>
              <a:t>Если </a:t>
            </a:r>
            <a:r>
              <a:rPr lang="ru-RU" sz="1800" dirty="0">
                <a:latin typeface="Times New Roman" pitchFamily="18" charset="0"/>
                <a:cs typeface="Times New Roman" pitchFamily="18" charset="0"/>
              </a:rPr>
              <a:t>на вкладке </a:t>
            </a:r>
            <a:r>
              <a:rPr lang="ru-RU" sz="1800" i="1" dirty="0">
                <a:latin typeface="Times New Roman" pitchFamily="18" charset="0"/>
                <a:cs typeface="Times New Roman" pitchFamily="18" charset="0"/>
              </a:rPr>
              <a:t>Отчет</a:t>
            </a:r>
            <a:r>
              <a:rPr lang="ru-RU" sz="1800" dirty="0">
                <a:latin typeface="Times New Roman" pitchFamily="18" charset="0"/>
                <a:cs typeface="Times New Roman" pitchFamily="18" charset="0"/>
              </a:rPr>
              <a:t> (рис.20) щелкнуть по кнопке </a:t>
            </a:r>
            <a:r>
              <a:rPr lang="ru-RU" sz="1800" i="1" dirty="0">
                <a:latin typeface="Times New Roman" pitchFamily="18" charset="0"/>
                <a:cs typeface="Times New Roman" pitchFamily="18" charset="0"/>
              </a:rPr>
              <a:t>Печатать</a:t>
            </a:r>
            <a:r>
              <a:rPr lang="ru-RU" sz="1800" dirty="0">
                <a:latin typeface="Times New Roman" pitchFamily="18" charset="0"/>
                <a:cs typeface="Times New Roman" pitchFamily="18" charset="0"/>
              </a:rPr>
              <a:t> у</a:t>
            </a:r>
            <a:r>
              <a:rPr lang="ru-RU" sz="1800" i="1" dirty="0">
                <a:latin typeface="Times New Roman" pitchFamily="18" charset="0"/>
                <a:cs typeface="Times New Roman" pitchFamily="18" charset="0"/>
              </a:rPr>
              <a:t>равнение предсказания</a:t>
            </a:r>
            <a:r>
              <a:rPr lang="ru-RU" sz="1800" dirty="0">
                <a:latin typeface="Times New Roman" pitchFamily="18" charset="0"/>
                <a:cs typeface="Times New Roman" pitchFamily="18" charset="0"/>
              </a:rPr>
              <a:t>, то программа сама выпишет уравнение регрессии:</a:t>
            </a:r>
          </a:p>
          <a:p>
            <a:pPr marL="0" indent="0" algn="just">
              <a:spcBef>
                <a:spcPts val="0"/>
              </a:spcBef>
              <a:buNone/>
            </a:pPr>
            <a:r>
              <a:rPr lang="ru-RU" sz="1800" dirty="0">
                <a:latin typeface="Times New Roman" pitchFamily="18" charset="0"/>
                <a:cs typeface="Times New Roman" pitchFamily="18" charset="0"/>
              </a:rPr>
              <a:t> Предсказанное уравнение для </a:t>
            </a:r>
            <a:r>
              <a:rPr lang="ru-RU" sz="1800" i="1" dirty="0" smtClean="0">
                <a:latin typeface="Times New Roman" pitchFamily="18" charset="0"/>
                <a:cs typeface="Times New Roman" pitchFamily="18" charset="0"/>
              </a:rPr>
              <a:t>SLAT</a:t>
            </a:r>
            <a:r>
              <a:rPr lang="ru-RU" sz="1800" dirty="0" smtClean="0">
                <a:latin typeface="Times New Roman" pitchFamily="18" charset="0"/>
                <a:cs typeface="Times New Roman" pitchFamily="18" charset="0"/>
              </a:rPr>
              <a:t> .</a:t>
            </a:r>
            <a:endParaRPr lang="ru-RU" sz="1800" dirty="0">
              <a:latin typeface="Times New Roman" pitchFamily="18" charset="0"/>
              <a:cs typeface="Times New Roman" pitchFamily="18" charset="0"/>
            </a:endParaRPr>
          </a:p>
          <a:p>
            <a:pPr>
              <a:buNone/>
            </a:pPr>
            <a:endParaRPr lang="ru-RU" sz="16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755576" y="188640"/>
            <a:ext cx="8229600" cy="820688"/>
          </a:xfrm>
        </p:spPr>
        <p:txBody>
          <a:bodyPr>
            <a:normAutofit fontScale="85000" lnSpcReduction="10000"/>
          </a:bodyPr>
          <a:lstStyle/>
          <a:p>
            <a:pPr marL="0" algn="just">
              <a:spcBef>
                <a:spcPts val="0"/>
              </a:spcBef>
              <a:buNone/>
            </a:pPr>
            <a:r>
              <a:rPr lang="ru-RU" sz="2000" dirty="0" smtClean="0">
                <a:latin typeface="Times New Roman" pitchFamily="18" charset="0"/>
                <a:cs typeface="Times New Roman" pitchFamily="18" charset="0"/>
              </a:rPr>
              <a:t>Если в диалоге </a:t>
            </a:r>
            <a:r>
              <a:rPr lang="ru-RU" sz="2000" i="1" dirty="0" smtClean="0">
                <a:latin typeface="Times New Roman" pitchFamily="18" charset="0"/>
                <a:cs typeface="Times New Roman" pitchFamily="18" charset="0"/>
              </a:rPr>
              <a:t>Результаты</a:t>
            </a:r>
            <a:r>
              <a:rPr lang="ru-RU" sz="2000" dirty="0" smtClean="0">
                <a:latin typeface="Times New Roman" pitchFamily="18" charset="0"/>
                <a:cs typeface="Times New Roman" pitchFamily="18" charset="0"/>
              </a:rPr>
              <a:t> на вкладке </a:t>
            </a:r>
            <a:r>
              <a:rPr lang="ru-RU" sz="2000" i="1" dirty="0" smtClean="0">
                <a:latin typeface="Times New Roman" pitchFamily="18" charset="0"/>
                <a:cs typeface="Times New Roman" pitchFamily="18" charset="0"/>
              </a:rPr>
              <a:t>Быстрый</a:t>
            </a:r>
            <a:r>
              <a:rPr lang="ru-RU" sz="2000" dirty="0" smtClean="0">
                <a:latin typeface="Times New Roman" pitchFamily="18" charset="0"/>
                <a:cs typeface="Times New Roman" pitchFamily="18" charset="0"/>
              </a:rPr>
              <a:t> нажать на кнопку </a:t>
            </a:r>
            <a:r>
              <a:rPr lang="ru-RU" sz="2000" i="1" dirty="0" smtClean="0">
                <a:latin typeface="Times New Roman" pitchFamily="18" charset="0"/>
                <a:cs typeface="Times New Roman" pitchFamily="18" charset="0"/>
              </a:rPr>
              <a:t>Матрица плана</a:t>
            </a:r>
            <a:r>
              <a:rPr lang="ru-RU" sz="2000" dirty="0" smtClean="0">
                <a:latin typeface="Times New Roman" pitchFamily="18" charset="0"/>
                <a:cs typeface="Times New Roman" pitchFamily="18" charset="0"/>
              </a:rPr>
              <a:t>, то появится таблица со значениями непрерывных предикторов, кодов категориальных предикторов и предсказанными значениями отклика для всех наблюдений</a:t>
            </a:r>
            <a:endParaRPr lang="ru-RU"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2771800" y="1100686"/>
            <a:ext cx="3672408" cy="5147739"/>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78098"/>
          </a:xfrm>
        </p:spPr>
        <p:txBody>
          <a:bodyPr>
            <a:normAutofit/>
          </a:bodyPr>
          <a:lstStyle/>
          <a:p>
            <a:r>
              <a:rPr lang="ru-RU" sz="2000" dirty="0" smtClean="0">
                <a:latin typeface="Times New Roman" pitchFamily="18" charset="0"/>
                <a:cs typeface="Times New Roman" pitchFamily="18" charset="0"/>
              </a:rPr>
              <a:t>Матрица плана</a:t>
            </a:r>
            <a:endParaRPr lang="ru-RU" sz="2000" dirty="0">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395536" y="1196752"/>
            <a:ext cx="8395287" cy="3648621"/>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558</TotalTime>
  <Words>1128</Words>
  <Application>Microsoft Office PowerPoint</Application>
  <PresentationFormat>Экран (4:3)</PresentationFormat>
  <Paragraphs>27</Paragraphs>
  <Slides>21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21</vt:i4>
      </vt:variant>
    </vt:vector>
  </HeadingPairs>
  <TitlesOfParts>
    <vt:vector size="22" baseType="lpstr">
      <vt:lpstr>Тема Office</vt:lpstr>
      <vt:lpstr>Общие линейные модели</vt:lpstr>
      <vt:lpstr>Слайд 2</vt:lpstr>
      <vt:lpstr>   Для начала работы с модулем  Общие линейные модели следует в меню  Анализ высветить  Углубленные методы анализа (рис.2), в открывшемся меню щелкнуть по процедуре  Общие линейные модели,  откроется стартовое окно модуля (рис.3). Если в появившемся окне щелкнуть пол кнопке ОК, то откроется одноименное окно (рис.4), в котором надо щелкнуть по кнопке Переменные и в появившемся окне (рис.5) выделить зависимую переменную, категориальные и непрерывные предикторы.  </vt:lpstr>
      <vt:lpstr>Слайд 4</vt:lpstr>
      <vt:lpstr>Слайд 5</vt:lpstr>
      <vt:lpstr>Слайд 6</vt:lpstr>
      <vt:lpstr>Слайд 7</vt:lpstr>
      <vt:lpstr>Слайд 8</vt:lpstr>
      <vt:lpstr>Слайд 9</vt:lpstr>
      <vt:lpstr>Слайд 10</vt:lpstr>
      <vt:lpstr>Слайд 11</vt:lpstr>
      <vt:lpstr>Слайд 12</vt:lpstr>
      <vt:lpstr>Слайд 13</vt:lpstr>
      <vt:lpstr>Слайд 14</vt:lpstr>
      <vt:lpstr>Слайд 15</vt:lpstr>
      <vt:lpstr>Слайд 16</vt:lpstr>
      <vt:lpstr>Слайд 17</vt:lpstr>
      <vt:lpstr>Слайд 18</vt:lpstr>
      <vt:lpstr>Слайд 19</vt:lpstr>
      <vt:lpstr>Слайд 20</vt:lpstr>
      <vt:lpstr>Матрица плана</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Общие линейные модели</dc:title>
  <dc:creator>Khaliphyan</dc:creator>
  <cp:lastModifiedBy>Khaliphyan</cp:lastModifiedBy>
  <cp:revision>19</cp:revision>
  <dcterms:created xsi:type="dcterms:W3CDTF">2021-07-23T11:44:28Z</dcterms:created>
  <dcterms:modified xsi:type="dcterms:W3CDTF">2023-03-26T12:31:42Z</dcterms:modified>
</cp:coreProperties>
</file>